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Override1.xml" ContentType="application/vnd.openxmlformats-officedocument.themeOverr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 id="2147483687"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6" r:id="rId14"/>
    <p:sldId id="267" r:id="rId1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111972-0168-4217-90F8-5C41321B2C17}"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B8DFC7-9C1C-4B6C-AB80-5E31849BE0F7}" type="slidenum">
              <a:rPr lang="en-US" smtClean="0"/>
              <a:t>‹#›</a:t>
            </a:fld>
            <a:endParaRPr lang="en-US"/>
          </a:p>
        </p:txBody>
      </p:sp>
    </p:spTree>
    <p:extLst>
      <p:ext uri="{BB962C8B-B14F-4D97-AF65-F5344CB8AC3E}">
        <p14:creationId xmlns:p14="http://schemas.microsoft.com/office/powerpoint/2010/main" val="1472785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shadow prices. Note we from herein we ignore production deadweight loss as this will be constant across all misallocations (e.g. oil from foreign country).</a:t>
            </a:r>
          </a:p>
          <a:p>
            <a:endParaRPr lang="en-US" dirty="0"/>
          </a:p>
        </p:txBody>
      </p:sp>
      <p:sp>
        <p:nvSpPr>
          <p:cNvPr id="4" name="Slide Number Placeholder 3"/>
          <p:cNvSpPr>
            <a:spLocks noGrp="1"/>
          </p:cNvSpPr>
          <p:nvPr>
            <p:ph type="sldNum" sz="quarter" idx="5"/>
          </p:nvPr>
        </p:nvSpPr>
        <p:spPr/>
        <p:txBody>
          <a:bodyPr/>
          <a:lstStyle/>
          <a:p>
            <a:fld id="{AFB8DFC7-9C1C-4B6C-AB80-5E31849BE0F7}" type="slidenum">
              <a:rPr lang="en-US" smtClean="0"/>
              <a:t>6</a:t>
            </a:fld>
            <a:endParaRPr lang="en-US"/>
          </a:p>
        </p:txBody>
      </p:sp>
    </p:spTree>
    <p:extLst>
      <p:ext uri="{BB962C8B-B14F-4D97-AF65-F5344CB8AC3E}">
        <p14:creationId xmlns:p14="http://schemas.microsoft.com/office/powerpoint/2010/main" val="928492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1979 Barely 50 stations were open in </a:t>
            </a:r>
            <a:r>
              <a:rPr lang="en-US" dirty="0" err="1"/>
              <a:t>Connecticut.and</a:t>
            </a:r>
            <a:r>
              <a:rPr lang="en-US" dirty="0"/>
              <a:t> in New Jersey less than 500 of </a:t>
            </a:r>
            <a:r>
              <a:rPr lang="en-US" dirty="0" err="1"/>
              <a:t>thestate's</a:t>
            </a:r>
            <a:r>
              <a:rPr lang="en-US" dirty="0"/>
              <a:t> 6,1m stations were open. In New </a:t>
            </a:r>
            <a:r>
              <a:rPr lang="en-US" dirty="0" err="1"/>
              <a:t>YorkCity</a:t>
            </a:r>
            <a:r>
              <a:rPr lang="en-US" dirty="0"/>
              <a:t>, Westchester County and Long </a:t>
            </a:r>
            <a:r>
              <a:rPr lang="en-US" dirty="0" err="1"/>
              <a:t>Island,less</a:t>
            </a:r>
            <a:r>
              <a:rPr lang="en-US" dirty="0"/>
              <a:t> than 5 per cent of the stations sold gasoline. Police call for help in </a:t>
            </a:r>
            <a:r>
              <a:rPr lang="en-US" dirty="0" err="1"/>
              <a:t>qasoline</a:t>
            </a:r>
            <a:r>
              <a:rPr lang="en-US" dirty="0"/>
              <a:t> riots Chicago Tribune (1979) Chicago, Ill.. 26 June 1979:2</a:t>
            </a:r>
          </a:p>
        </p:txBody>
      </p:sp>
      <p:sp>
        <p:nvSpPr>
          <p:cNvPr id="4" name="Slide Number Placeholder 3"/>
          <p:cNvSpPr>
            <a:spLocks noGrp="1"/>
          </p:cNvSpPr>
          <p:nvPr>
            <p:ph type="sldNum" sz="quarter" idx="5"/>
          </p:nvPr>
        </p:nvSpPr>
        <p:spPr/>
        <p:txBody>
          <a:bodyPr/>
          <a:lstStyle/>
          <a:p>
            <a:fld id="{AFB8DFC7-9C1C-4B6C-AB80-5E31849BE0F7}" type="slidenum">
              <a:rPr lang="en-US" smtClean="0"/>
              <a:t>10</a:t>
            </a:fld>
            <a:endParaRPr lang="en-US"/>
          </a:p>
        </p:txBody>
      </p:sp>
    </p:spTree>
    <p:extLst>
      <p:ext uri="{BB962C8B-B14F-4D97-AF65-F5344CB8AC3E}">
        <p14:creationId xmlns:p14="http://schemas.microsoft.com/office/powerpoint/2010/main" val="3466607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bg>
      <p:bgRef idx="1002">
        <a:schemeClr val="bg2"/>
      </p:bgRef>
    </p:bg>
    <p:spTree>
      <p:nvGrpSpPr>
        <p:cNvPr id="1" name=""/>
        <p:cNvGrpSpPr/>
        <p:nvPr/>
      </p:nvGrpSpPr>
      <p:grpSpPr>
        <a:xfrm>
          <a:off x="0" y="0"/>
          <a:ext cx="0" cy="0"/>
          <a:chOff x="0" y="0"/>
          <a:chExt cx="0" cy="0"/>
        </a:xfrm>
      </p:grpSpPr>
      <p:sp>
        <p:nvSpPr>
          <p:cNvPr id="4" name="Rectangle 3"/>
          <p:cNvSpPr/>
          <p:nvPr/>
        </p:nvSpPr>
        <p:spPr bwMode="ltGray">
          <a:xfrm>
            <a:off x="0" y="5"/>
            <a:ext cx="12192000" cy="513556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350">
              <a:solidFill>
                <a:prstClr val="white"/>
              </a:solidFill>
            </a:endParaRPr>
          </a:p>
        </p:txBody>
      </p:sp>
      <p:sp>
        <p:nvSpPr>
          <p:cNvPr id="5" name="Rectangle 4"/>
          <p:cNvSpPr/>
          <p:nvPr/>
        </p:nvSpPr>
        <p:spPr bwMode="invGray">
          <a:xfrm>
            <a:off x="0" y="5127625"/>
            <a:ext cx="12192000" cy="460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350">
              <a:solidFill>
                <a:prstClr val="white"/>
              </a:solidFill>
            </a:endParaRPr>
          </a:p>
        </p:txBody>
      </p:sp>
      <p:sp>
        <p:nvSpPr>
          <p:cNvPr id="2" name="Title 1"/>
          <p:cNvSpPr>
            <a:spLocks noGrp="1"/>
          </p:cNvSpPr>
          <p:nvPr>
            <p:ph type="ctrTitle"/>
          </p:nvPr>
        </p:nvSpPr>
        <p:spPr>
          <a:xfrm>
            <a:off x="914400" y="3355848"/>
            <a:ext cx="10769600" cy="1673352"/>
          </a:xfrm>
        </p:spPr>
        <p:txBody>
          <a:bodyPr tIns="0" bIns="0" anchor="t"/>
          <a:lstStyle>
            <a:lvl1pPr algn="l">
              <a:defRPr sz="3525" b="1"/>
            </a:lvl1pPr>
            <a:extLst/>
          </a:lstStyle>
          <a:p>
            <a:r>
              <a:rPr lang="en-US"/>
              <a:t>Click to edit Master title style</a:t>
            </a:r>
          </a:p>
        </p:txBody>
      </p:sp>
      <p:sp>
        <p:nvSpPr>
          <p:cNvPr id="3" name="Subtitle 2"/>
          <p:cNvSpPr>
            <a:spLocks noGrp="1"/>
          </p:cNvSpPr>
          <p:nvPr>
            <p:ph type="subTitle" idx="1"/>
          </p:nvPr>
        </p:nvSpPr>
        <p:spPr>
          <a:xfrm>
            <a:off x="914400" y="1828800"/>
            <a:ext cx="10769600" cy="1499616"/>
          </a:xfrm>
        </p:spPr>
        <p:txBody>
          <a:bodyPr lIns="118872" tIns="0" rIns="45720" bIns="0" anchor="b"/>
          <a:lstStyle>
            <a:lvl1pPr marL="0" indent="0" algn="l">
              <a:buNone/>
              <a:defRPr sz="1500">
                <a:solidFill>
                  <a:srgbClr val="FFFFFF"/>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extLst/>
          </a:lstStyle>
          <a:p>
            <a:r>
              <a:rPr lang="en-US"/>
              <a:t>Click to edit Master subtitle style</a:t>
            </a:r>
          </a:p>
        </p:txBody>
      </p:sp>
      <p:sp>
        <p:nvSpPr>
          <p:cNvPr id="6" name="Date Placeholder 3"/>
          <p:cNvSpPr>
            <a:spLocks noGrp="1"/>
          </p:cNvSpPr>
          <p:nvPr>
            <p:ph type="dt" sz="half" idx="10"/>
          </p:nvPr>
        </p:nvSpPr>
        <p:spPr/>
        <p:txBody>
          <a:bodyPr/>
          <a:lstStyle>
            <a:lvl1pPr>
              <a:defRPr/>
            </a:lvl1pPr>
          </a:lstStyle>
          <a:p>
            <a:fld id="{18265C3D-5F49-4AC4-81DB-805F0ED24C64}" type="datetimeFigureOut">
              <a:rPr lang="en-US" smtClean="0"/>
              <a:t>2/7/2026</a:t>
            </a:fld>
            <a:endParaRPr lang="en-US"/>
          </a:p>
        </p:txBody>
      </p:sp>
      <p:sp>
        <p:nvSpPr>
          <p:cNvPr id="7" name="Footer Placeholder 4"/>
          <p:cNvSpPr>
            <a:spLocks noGrp="1"/>
          </p:cNvSpPr>
          <p:nvPr>
            <p:ph type="ftr" sz="quarter" idx="11"/>
          </p:nvPr>
        </p:nvSpPr>
        <p:spPr/>
        <p:txBody>
          <a:bodyPr/>
          <a:lstStyle>
            <a:lvl1pPr>
              <a:defRPr/>
            </a:lvl1pPr>
          </a:lstStyle>
          <a:p>
            <a:endParaRPr lang="en-US"/>
          </a:p>
        </p:txBody>
      </p:sp>
      <p:sp>
        <p:nvSpPr>
          <p:cNvPr id="8" name="Slide Number Placeholder 5"/>
          <p:cNvSpPr>
            <a:spLocks noGrp="1"/>
          </p:cNvSpPr>
          <p:nvPr>
            <p:ph type="sldNum" sz="quarter" idx="12"/>
          </p:nvPr>
        </p:nvSpPr>
        <p:spPr/>
        <p:txBody>
          <a:bodyPr/>
          <a:lstStyle>
            <a:lvl1pPr>
              <a:defRPr/>
            </a:lvl1pPr>
          </a:lstStyle>
          <a:p>
            <a:fld id="{F1FDFBCF-C362-4C75-9D1D-6AD08BB09C0E}" type="slidenum">
              <a:rPr lang="en-US" smtClean="0"/>
              <a:t>‹#›</a:t>
            </a:fld>
            <a:endParaRPr lang="en-US"/>
          </a:p>
        </p:txBody>
      </p:sp>
    </p:spTree>
    <p:extLst>
      <p:ext uri="{BB962C8B-B14F-4D97-AF65-F5344CB8AC3E}">
        <p14:creationId xmlns:p14="http://schemas.microsoft.com/office/powerpoint/2010/main" val="4947422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5448"/>
            <a:ext cx="10972800" cy="1252728"/>
          </a:xfrm>
        </p:spPr>
        <p:txBody>
          <a:bodyPr/>
          <a:lstStyle>
            <a:lvl1pPr>
              <a:defRPr sz="3000"/>
            </a:lvl1pPr>
            <a:extLst/>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8265C3D-5F49-4AC4-81DB-805F0ED24C64}" type="datetimeFigureOut">
              <a:rPr lang="en-US" smtClean="0"/>
              <a:t>2/7/2026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1FDFBCF-C362-4C75-9D1D-6AD08BB09C0E}" type="slidenum">
              <a:rPr lang="en-US" smtClean="0"/>
              <a:t>‹#›</a:t>
            </a:fld>
            <a:endParaRPr lang="en-US"/>
          </a:p>
        </p:txBody>
      </p:sp>
    </p:spTree>
    <p:extLst>
      <p:ext uri="{BB962C8B-B14F-4D97-AF65-F5344CB8AC3E}">
        <p14:creationId xmlns:p14="http://schemas.microsoft.com/office/powerpoint/2010/main" val="3625451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3325309D-A4BE-460F-9327-52FC103F356A}" type="slidenum">
              <a:rPr lang="en-US" altLang="en-US" smtClean="0"/>
              <a:pPr/>
              <a:t>‹#›</a:t>
            </a:fld>
            <a:endParaRPr lang="en-US" altLang="en-US"/>
          </a:p>
        </p:txBody>
      </p:sp>
    </p:spTree>
    <p:extLst>
      <p:ext uri="{BB962C8B-B14F-4D97-AF65-F5344CB8AC3E}">
        <p14:creationId xmlns:p14="http://schemas.microsoft.com/office/powerpoint/2010/main" val="130415892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AF222DA-0B65-4679-A949-38AC6E59AF09}" type="slidenum">
              <a:rPr lang="en-US" altLang="en-US" smtClean="0"/>
              <a:pPr/>
              <a:t>‹#›</a:t>
            </a:fld>
            <a:endParaRPr lang="en-US" altLang="en-US"/>
          </a:p>
        </p:txBody>
      </p:sp>
    </p:spTree>
    <p:extLst>
      <p:ext uri="{BB962C8B-B14F-4D97-AF65-F5344CB8AC3E}">
        <p14:creationId xmlns:p14="http://schemas.microsoft.com/office/powerpoint/2010/main" val="199227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831851" y="4552635"/>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AD8F6072-3EFD-4D10-8604-D1AA27D1BD00}" type="slidenum">
              <a:rPr lang="en-US" altLang="en-US" smtClean="0"/>
              <a:pPr/>
              <a:t>‹#›</a:t>
            </a:fld>
            <a:endParaRPr lang="en-US" altLang="en-US"/>
          </a:p>
        </p:txBody>
      </p:sp>
    </p:spTree>
    <p:extLst>
      <p:ext uri="{BB962C8B-B14F-4D97-AF65-F5344CB8AC3E}">
        <p14:creationId xmlns:p14="http://schemas.microsoft.com/office/powerpoint/2010/main" val="123971330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5127"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C5EB1FDB-9675-448F-A15A-EEEFD4EF31FE}" type="slidenum">
              <a:rPr lang="en-US" altLang="en-US" smtClean="0"/>
              <a:pPr/>
              <a:t>‹#›</a:t>
            </a:fld>
            <a:endParaRPr lang="en-US" altLang="en-US"/>
          </a:p>
        </p:txBody>
      </p:sp>
    </p:spTree>
    <p:extLst>
      <p:ext uri="{BB962C8B-B14F-4D97-AF65-F5344CB8AC3E}">
        <p14:creationId xmlns:p14="http://schemas.microsoft.com/office/powerpoint/2010/main" val="3693503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5127" y="2507552"/>
            <a:ext cx="5156200"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7552"/>
            <a:ext cx="5181601"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E107A57D-BE6F-49EB-8BFE-69DE09DEF6F7}" type="slidenum">
              <a:rPr lang="en-US" altLang="en-US" smtClean="0"/>
              <a:pPr/>
              <a:t>‹#›</a:t>
            </a:fld>
            <a:endParaRPr lang="en-US" alt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861661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1E2E494D-42FF-451D-B51F-EB384D56CD65}" type="slidenum">
              <a:rPr lang="en-US" altLang="en-US" smtClean="0"/>
              <a:pPr/>
              <a:t>‹#›</a:t>
            </a:fld>
            <a:endParaRPr lang="en-US" alt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5971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C2E724CC-E2E6-4EB3-A512-0B484A076AF8}" type="slidenum">
              <a:rPr lang="en-US" altLang="en-US" smtClean="0"/>
              <a:pPr/>
              <a:t>‹#›</a:t>
            </a:fld>
            <a:endParaRPr lang="en-US" altLang="en-US"/>
          </a:p>
        </p:txBody>
      </p:sp>
    </p:spTree>
    <p:extLst>
      <p:ext uri="{BB962C8B-B14F-4D97-AF65-F5344CB8AC3E}">
        <p14:creationId xmlns:p14="http://schemas.microsoft.com/office/powerpoint/2010/main" val="130064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2"/>
            <a:ext cx="393192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565E13D1-4440-4B14-A116-3A3683ECD316}" type="slidenum">
              <a:rPr lang="en-US" altLang="en-US" smtClean="0"/>
              <a:pPr/>
              <a:t>‹#›</a:t>
            </a:fld>
            <a:endParaRPr lang="en-US" altLang="en-US"/>
          </a:p>
        </p:txBody>
      </p:sp>
    </p:spTree>
    <p:extLst>
      <p:ext uri="{BB962C8B-B14F-4D97-AF65-F5344CB8AC3E}">
        <p14:creationId xmlns:p14="http://schemas.microsoft.com/office/powerpoint/2010/main" val="1101731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69565C50-6975-4586-AF89-BE421A784D06}" type="slidenum">
              <a:rPr lang="en-US" altLang="en-US" smtClean="0"/>
              <a:pPr/>
              <a:t>‹#›</a:t>
            </a:fld>
            <a:endParaRPr lang="en-US" altLang="en-US"/>
          </a:p>
        </p:txBody>
      </p:sp>
    </p:spTree>
    <p:extLst>
      <p:ext uri="{BB962C8B-B14F-4D97-AF65-F5344CB8AC3E}">
        <p14:creationId xmlns:p14="http://schemas.microsoft.com/office/powerpoint/2010/main" val="1733060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E06A2D3D-99C9-481C-B795-46DC8A88B25C}" type="slidenum">
              <a:rPr lang="en-US" altLang="en-US" smtClean="0"/>
              <a:pPr/>
              <a:t>‹#›</a:t>
            </a:fld>
            <a:endParaRPr lang="en-US" altLang="en-US"/>
          </a:p>
        </p:txBody>
      </p:sp>
    </p:spTree>
    <p:extLst>
      <p:ext uri="{BB962C8B-B14F-4D97-AF65-F5344CB8AC3E}">
        <p14:creationId xmlns:p14="http://schemas.microsoft.com/office/powerpoint/2010/main" val="3029703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0362"/>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0364"/>
            <a:ext cx="7734300" cy="5811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76598CBB-906A-4F14-AF0D-DBA78303A014}" type="slidenum">
              <a:rPr lang="en-US" altLang="en-US" smtClean="0"/>
              <a:pPr/>
              <a:t>‹#›</a:t>
            </a:fld>
            <a:endParaRPr lang="en-US" altLang="en-US"/>
          </a:p>
        </p:txBody>
      </p:sp>
    </p:spTree>
    <p:extLst>
      <p:ext uri="{BB962C8B-B14F-4D97-AF65-F5344CB8AC3E}">
        <p14:creationId xmlns:p14="http://schemas.microsoft.com/office/powerpoint/2010/main" val="13290561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3325309D-A4BE-460F-9327-52FC103F356A}" type="slidenum">
              <a:rPr lang="en-US" altLang="en-US" smtClean="0"/>
              <a:pPr/>
              <a:t>‹#›</a:t>
            </a:fld>
            <a:endParaRPr lang="en-US" altLang="en-US"/>
          </a:p>
        </p:txBody>
      </p:sp>
    </p:spTree>
    <p:extLst>
      <p:ext uri="{BB962C8B-B14F-4D97-AF65-F5344CB8AC3E}">
        <p14:creationId xmlns:p14="http://schemas.microsoft.com/office/powerpoint/2010/main" val="69815078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AF222DA-0B65-4679-A949-38AC6E59AF09}" type="slidenum">
              <a:rPr lang="en-US" altLang="en-US" smtClean="0"/>
              <a:pPr/>
              <a:t>‹#›</a:t>
            </a:fld>
            <a:endParaRPr lang="en-US" altLang="en-US"/>
          </a:p>
        </p:txBody>
      </p:sp>
    </p:spTree>
    <p:extLst>
      <p:ext uri="{BB962C8B-B14F-4D97-AF65-F5344CB8AC3E}">
        <p14:creationId xmlns:p14="http://schemas.microsoft.com/office/powerpoint/2010/main" val="3084612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831851" y="4552635"/>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1533160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5127"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1627180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5127" y="2507552"/>
            <a:ext cx="5156200"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7552"/>
            <a:ext cx="5181601"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884398A2-5B08-4719-8AB1-C65CB992074D}" type="slidenum">
              <a:rPr lang="en-US" altLang="en-US" smtClean="0"/>
              <a:pPr/>
              <a:t>‹#›</a:t>
            </a:fld>
            <a:endParaRPr lang="en-US" alt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785132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884398A2-5B08-4719-8AB1-C65CB992074D}" type="slidenum">
              <a:rPr lang="en-US" altLang="en-US" smtClean="0"/>
              <a:pPr/>
              <a:t>‹#›</a:t>
            </a:fld>
            <a:endParaRPr lang="en-US" alt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41599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C2E724CC-E2E6-4EB3-A512-0B484A076AF8}" type="slidenum">
              <a:rPr lang="en-US" altLang="en-US" smtClean="0"/>
              <a:pPr/>
              <a:t>‹#›</a:t>
            </a:fld>
            <a:endParaRPr lang="en-US" altLang="en-US"/>
          </a:p>
        </p:txBody>
      </p:sp>
    </p:spTree>
    <p:extLst>
      <p:ext uri="{BB962C8B-B14F-4D97-AF65-F5344CB8AC3E}">
        <p14:creationId xmlns:p14="http://schemas.microsoft.com/office/powerpoint/2010/main" val="41139152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2"/>
            <a:ext cx="393192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620871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3073785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34165534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0362"/>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0364"/>
            <a:ext cx="7734300" cy="5811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19028051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3325309D-A4BE-460F-9327-52FC103F356A}" type="slidenum">
              <a:rPr lang="en-US" altLang="en-US" smtClean="0"/>
              <a:pPr/>
              <a:t>‹#›</a:t>
            </a:fld>
            <a:endParaRPr lang="en-US" altLang="en-US"/>
          </a:p>
        </p:txBody>
      </p:sp>
    </p:spTree>
    <p:extLst>
      <p:ext uri="{BB962C8B-B14F-4D97-AF65-F5344CB8AC3E}">
        <p14:creationId xmlns:p14="http://schemas.microsoft.com/office/powerpoint/2010/main" val="4231907433"/>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AF222DA-0B65-4679-A949-38AC6E59AF09}" type="slidenum">
              <a:rPr lang="en-US" altLang="en-US" smtClean="0"/>
              <a:pPr/>
              <a:t>‹#›</a:t>
            </a:fld>
            <a:endParaRPr lang="en-US" altLang="en-US"/>
          </a:p>
        </p:txBody>
      </p:sp>
    </p:spTree>
    <p:extLst>
      <p:ext uri="{BB962C8B-B14F-4D97-AF65-F5344CB8AC3E}">
        <p14:creationId xmlns:p14="http://schemas.microsoft.com/office/powerpoint/2010/main" val="17811737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831851" y="4552635"/>
            <a:ext cx="105156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14469543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5127"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8802"/>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22520868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5127" y="2507552"/>
            <a:ext cx="5156200"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851"/>
            <a:ext cx="51816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7552"/>
            <a:ext cx="5181601"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884398A2-5B08-4719-8AB1-C65CB992074D}" type="slidenum">
              <a:rPr lang="en-US" altLang="en-US" smtClean="0"/>
              <a:pPr/>
              <a:t>‹#›</a:t>
            </a:fld>
            <a:endParaRPr lang="en-US" alt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923318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884398A2-5B08-4719-8AB1-C65CB992074D}" type="slidenum">
              <a:rPr lang="en-US" altLang="en-US" smtClean="0"/>
              <a:pPr/>
              <a:t>‹#›</a:t>
            </a:fld>
            <a:endParaRPr lang="en-US" alt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185998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C2E724CC-E2E6-4EB3-A512-0B484A076AF8}" type="slidenum">
              <a:rPr lang="en-US" altLang="en-US" smtClean="0"/>
              <a:pPr/>
              <a:t>‹#›</a:t>
            </a:fld>
            <a:endParaRPr lang="en-US" altLang="en-US"/>
          </a:p>
        </p:txBody>
      </p:sp>
    </p:spTree>
    <p:extLst>
      <p:ext uri="{BB962C8B-B14F-4D97-AF65-F5344CB8AC3E}">
        <p14:creationId xmlns:p14="http://schemas.microsoft.com/office/powerpoint/2010/main" val="19856785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2"/>
            <a:ext cx="393192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1068117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lt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22266503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12432850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0362"/>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0364"/>
            <a:ext cx="7734300" cy="5811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30066358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6688"/>
            <a:ext cx="12192000" cy="4445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350">
              <a:solidFill>
                <a:prstClr val="white"/>
              </a:solidFill>
            </a:endParaRPr>
          </a:p>
        </p:txBody>
      </p:sp>
      <p:sp>
        <p:nvSpPr>
          <p:cNvPr id="7" name="Rectangle 6"/>
          <p:cNvSpPr/>
          <p:nvPr/>
        </p:nvSpPr>
        <p:spPr bwMode="ltGray">
          <a:xfrm>
            <a:off x="0" y="5"/>
            <a:ext cx="12192000" cy="14335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sz="1350">
              <a:solidFill>
                <a:prstClr val="white"/>
              </a:solidFill>
            </a:endParaRPr>
          </a:p>
        </p:txBody>
      </p:sp>
      <p:sp>
        <p:nvSpPr>
          <p:cNvPr id="2" name="Title Placeholder 1"/>
          <p:cNvSpPr>
            <a:spLocks noGrp="1"/>
          </p:cNvSpPr>
          <p:nvPr>
            <p:ph type="title"/>
          </p:nvPr>
        </p:nvSpPr>
        <p:spPr>
          <a:xfrm>
            <a:off x="609600" y="152400"/>
            <a:ext cx="10972800" cy="125095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lang="en-US"/>
              <a:t>Click to edit Master title style</a:t>
            </a:r>
          </a:p>
        </p:txBody>
      </p:sp>
      <p:sp>
        <p:nvSpPr>
          <p:cNvPr id="2053" name="Text Placeholder 2"/>
          <p:cNvSpPr>
            <a:spLocks noGrp="1"/>
          </p:cNvSpPr>
          <p:nvPr>
            <p:ph type="body" idx="1"/>
          </p:nvPr>
        </p:nvSpPr>
        <p:spPr bwMode="auto">
          <a:xfrm>
            <a:off x="609600" y="1774825"/>
            <a:ext cx="10972800" cy="4625975"/>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477000"/>
            <a:ext cx="2844800" cy="274638"/>
          </a:xfrm>
          <a:prstGeom prst="rect">
            <a:avLst/>
          </a:prstGeom>
        </p:spPr>
        <p:txBody>
          <a:bodyPr vert="horz" lIns="109728" rIns="45720" bIns="0" rtlCol="0" anchor="b"/>
          <a:lstStyle>
            <a:lvl1pPr algn="l" eaLnBrk="1" latinLnBrk="0" hangingPunct="1">
              <a:defRPr kumimoji="0" sz="900">
                <a:solidFill>
                  <a:schemeClr val="tx1">
                    <a:tint val="95000"/>
                  </a:schemeClr>
                </a:solidFill>
              </a:defRPr>
            </a:lvl1pPr>
            <a:extLst/>
          </a:lstStyle>
          <a:p>
            <a:fld id="{18265C3D-5F49-4AC4-81DB-805F0ED24C64}" type="datetimeFigureOut">
              <a:rPr lang="en-US" smtClean="0"/>
              <a:t>2/7/2026</a:t>
            </a:fld>
            <a:endParaRPr lang="en-US"/>
          </a:p>
        </p:txBody>
      </p:sp>
      <p:sp>
        <p:nvSpPr>
          <p:cNvPr id="5" name="Footer Placeholder 4"/>
          <p:cNvSpPr>
            <a:spLocks noGrp="1"/>
          </p:cNvSpPr>
          <p:nvPr>
            <p:ph type="ftr" sz="quarter" idx="3"/>
          </p:nvPr>
        </p:nvSpPr>
        <p:spPr>
          <a:xfrm>
            <a:off x="3520021" y="6477000"/>
            <a:ext cx="7344833" cy="274638"/>
          </a:xfrm>
          <a:prstGeom prst="rect">
            <a:avLst/>
          </a:prstGeom>
        </p:spPr>
        <p:txBody>
          <a:bodyPr vert="horz" lIns="45720" rIns="45720" bIns="0" rtlCol="0" anchor="b"/>
          <a:lstStyle>
            <a:lvl1pPr algn="l" eaLnBrk="1" latinLnBrk="0" hangingPunct="1">
              <a:defRPr kumimoji="0" sz="9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10938935" y="6477000"/>
            <a:ext cx="977900" cy="274638"/>
          </a:xfrm>
          <a:prstGeom prst="rect">
            <a:avLst/>
          </a:prstGeom>
        </p:spPr>
        <p:txBody>
          <a:bodyPr vert="horz" bIns="0" rtlCol="0" anchor="b"/>
          <a:lstStyle>
            <a:lvl1pPr algn="r" eaLnBrk="1" latinLnBrk="0" hangingPunct="1">
              <a:defRPr kumimoji="0" sz="900" smtClean="0">
                <a:solidFill>
                  <a:schemeClr val="tx1">
                    <a:tint val="95000"/>
                  </a:schemeClr>
                </a:solidFill>
              </a:defRPr>
            </a:lvl1pPr>
            <a:extLst/>
          </a:lstStyle>
          <a:p>
            <a:fld id="{F1FDFBCF-C362-4C75-9D1D-6AD08BB09C0E}" type="slidenum">
              <a:rPr lang="en-US" smtClean="0"/>
              <a:t>‹#›</a:t>
            </a:fld>
            <a:endParaRPr lang="en-US"/>
          </a:p>
        </p:txBody>
      </p:sp>
    </p:spTree>
    <p:extLst>
      <p:ext uri="{BB962C8B-B14F-4D97-AF65-F5344CB8AC3E}">
        <p14:creationId xmlns:p14="http://schemas.microsoft.com/office/powerpoint/2010/main" val="261073672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rtl="0" eaLnBrk="1" fontAlgn="base" hangingPunct="1">
        <a:spcBef>
          <a:spcPct val="0"/>
        </a:spcBef>
        <a:spcAft>
          <a:spcPct val="0"/>
        </a:spcAft>
        <a:defRPr sz="3375" b="1" kern="1200">
          <a:solidFill>
            <a:srgbClr val="FFC800"/>
          </a:solidFill>
          <a:latin typeface="+mj-lt"/>
          <a:ea typeface="+mj-ea"/>
          <a:cs typeface="+mj-cs"/>
        </a:defRPr>
      </a:lvl1pPr>
      <a:lvl2pPr algn="l" rtl="0" eaLnBrk="1" fontAlgn="base" hangingPunct="1">
        <a:spcBef>
          <a:spcPct val="0"/>
        </a:spcBef>
        <a:spcAft>
          <a:spcPct val="0"/>
        </a:spcAft>
        <a:defRPr sz="3375" b="1">
          <a:solidFill>
            <a:srgbClr val="FFC800"/>
          </a:solidFill>
          <a:latin typeface="Corbel" pitchFamily="34" charset="0"/>
        </a:defRPr>
      </a:lvl2pPr>
      <a:lvl3pPr algn="l" rtl="0" eaLnBrk="1" fontAlgn="base" hangingPunct="1">
        <a:spcBef>
          <a:spcPct val="0"/>
        </a:spcBef>
        <a:spcAft>
          <a:spcPct val="0"/>
        </a:spcAft>
        <a:defRPr sz="3375" b="1">
          <a:solidFill>
            <a:srgbClr val="FFC800"/>
          </a:solidFill>
          <a:latin typeface="Corbel" pitchFamily="34" charset="0"/>
        </a:defRPr>
      </a:lvl3pPr>
      <a:lvl4pPr algn="l" rtl="0" eaLnBrk="1" fontAlgn="base" hangingPunct="1">
        <a:spcBef>
          <a:spcPct val="0"/>
        </a:spcBef>
        <a:spcAft>
          <a:spcPct val="0"/>
        </a:spcAft>
        <a:defRPr sz="3375" b="1">
          <a:solidFill>
            <a:srgbClr val="FFC800"/>
          </a:solidFill>
          <a:latin typeface="Corbel" pitchFamily="34" charset="0"/>
        </a:defRPr>
      </a:lvl4pPr>
      <a:lvl5pPr algn="l" rtl="0" eaLnBrk="1" fontAlgn="base" hangingPunct="1">
        <a:spcBef>
          <a:spcPct val="0"/>
        </a:spcBef>
        <a:spcAft>
          <a:spcPct val="0"/>
        </a:spcAft>
        <a:defRPr sz="3375" b="1">
          <a:solidFill>
            <a:srgbClr val="FFC800"/>
          </a:solidFill>
          <a:latin typeface="Corbel" pitchFamily="34" charset="0"/>
        </a:defRPr>
      </a:lvl5pPr>
      <a:lvl6pPr marL="342900" algn="l" rtl="0" eaLnBrk="1" fontAlgn="base" hangingPunct="1">
        <a:spcBef>
          <a:spcPct val="0"/>
        </a:spcBef>
        <a:spcAft>
          <a:spcPct val="0"/>
        </a:spcAft>
        <a:defRPr sz="3375" b="1">
          <a:solidFill>
            <a:srgbClr val="FFC800"/>
          </a:solidFill>
          <a:latin typeface="Corbel" pitchFamily="34" charset="0"/>
        </a:defRPr>
      </a:lvl6pPr>
      <a:lvl7pPr marL="685800" algn="l" rtl="0" eaLnBrk="1" fontAlgn="base" hangingPunct="1">
        <a:spcBef>
          <a:spcPct val="0"/>
        </a:spcBef>
        <a:spcAft>
          <a:spcPct val="0"/>
        </a:spcAft>
        <a:defRPr sz="3375" b="1">
          <a:solidFill>
            <a:srgbClr val="FFC800"/>
          </a:solidFill>
          <a:latin typeface="Corbel" pitchFamily="34" charset="0"/>
        </a:defRPr>
      </a:lvl7pPr>
      <a:lvl8pPr marL="1028700" algn="l" rtl="0" eaLnBrk="1" fontAlgn="base" hangingPunct="1">
        <a:spcBef>
          <a:spcPct val="0"/>
        </a:spcBef>
        <a:spcAft>
          <a:spcPct val="0"/>
        </a:spcAft>
        <a:defRPr sz="3375" b="1">
          <a:solidFill>
            <a:srgbClr val="FFC800"/>
          </a:solidFill>
          <a:latin typeface="Corbel" pitchFamily="34" charset="0"/>
        </a:defRPr>
      </a:lvl8pPr>
      <a:lvl9pPr marL="1371600" algn="l" rtl="0" eaLnBrk="1" fontAlgn="base" hangingPunct="1">
        <a:spcBef>
          <a:spcPct val="0"/>
        </a:spcBef>
        <a:spcAft>
          <a:spcPct val="0"/>
        </a:spcAft>
        <a:defRPr sz="3375" b="1">
          <a:solidFill>
            <a:srgbClr val="FFC800"/>
          </a:solidFill>
          <a:latin typeface="Corbel" pitchFamily="34" charset="0"/>
        </a:defRPr>
      </a:lvl9pPr>
      <a:extLst/>
    </p:titleStyle>
    <p:bodyStyle>
      <a:lvl1pPr marL="328613" indent="-239316" algn="l" rtl="0" eaLnBrk="1" fontAlgn="base" hangingPunct="1">
        <a:spcBef>
          <a:spcPct val="0"/>
        </a:spcBef>
        <a:spcAft>
          <a:spcPct val="0"/>
        </a:spcAft>
        <a:buClr>
          <a:schemeClr val="accent1"/>
        </a:buClr>
        <a:buSzPct val="80000"/>
        <a:buFont typeface="Wingdings 2" pitchFamily="18" charset="2"/>
        <a:buChar char=""/>
        <a:defRPr sz="2400" kern="1200">
          <a:solidFill>
            <a:schemeClr val="tx1"/>
          </a:solidFill>
          <a:latin typeface="Garamond" panose="02020404030301010803" pitchFamily="18" charset="0"/>
          <a:ea typeface="+mn-ea"/>
          <a:cs typeface="+mn-cs"/>
        </a:defRPr>
      </a:lvl1pPr>
      <a:lvl2pPr marL="547688" indent="-204788" algn="l" rtl="0" eaLnBrk="1" fontAlgn="base" hangingPunct="1">
        <a:spcBef>
          <a:spcPct val="20000"/>
        </a:spcBef>
        <a:spcAft>
          <a:spcPct val="0"/>
        </a:spcAft>
        <a:buClr>
          <a:schemeClr val="accent2"/>
        </a:buClr>
        <a:buSzPct val="90000"/>
        <a:buFont typeface="Wingdings" pitchFamily="2" charset="2"/>
        <a:buChar char=""/>
        <a:defRPr sz="2100" kern="1200">
          <a:solidFill>
            <a:schemeClr val="tx1"/>
          </a:solidFill>
          <a:latin typeface="Garamond" panose="02020404030301010803" pitchFamily="18" charset="0"/>
          <a:ea typeface="+mn-ea"/>
          <a:cs typeface="+mn-cs"/>
        </a:defRPr>
      </a:lvl2pPr>
      <a:lvl3pPr marL="746522" indent="-171450" algn="l" rtl="0" eaLnBrk="1" fontAlgn="base" hangingPunct="1">
        <a:spcBef>
          <a:spcPct val="20000"/>
        </a:spcBef>
        <a:spcAft>
          <a:spcPct val="0"/>
        </a:spcAft>
        <a:buClr>
          <a:srgbClr val="E66C7D"/>
        </a:buClr>
        <a:buFont typeface="Arial" charset="0"/>
        <a:buChar char="▪"/>
        <a:defRPr sz="1800" kern="1200">
          <a:solidFill>
            <a:schemeClr val="tx1"/>
          </a:solidFill>
          <a:latin typeface="Garamond" panose="02020404030301010803" pitchFamily="18" charset="0"/>
          <a:ea typeface="+mn-ea"/>
          <a:cs typeface="+mn-cs"/>
        </a:defRPr>
      </a:lvl3pPr>
      <a:lvl4pPr marL="912019" indent="-136922" algn="l" rtl="0" eaLnBrk="1" fontAlgn="base" hangingPunct="1">
        <a:spcBef>
          <a:spcPct val="20000"/>
        </a:spcBef>
        <a:spcAft>
          <a:spcPct val="0"/>
        </a:spcAft>
        <a:buClr>
          <a:srgbClr val="6BB76D"/>
        </a:buClr>
        <a:buFont typeface="Arial" charset="0"/>
        <a:buChar char="▪"/>
        <a:defRPr sz="1500" kern="1200">
          <a:solidFill>
            <a:schemeClr val="tx1"/>
          </a:solidFill>
          <a:latin typeface="Garamond" panose="02020404030301010803" pitchFamily="18" charset="0"/>
          <a:ea typeface="+mn-ea"/>
          <a:cs typeface="+mn-cs"/>
        </a:defRPr>
      </a:lvl4pPr>
      <a:lvl5pPr marL="1069181" indent="-136922" algn="l" rtl="0" eaLnBrk="1" fontAlgn="base" hangingPunct="1">
        <a:spcBef>
          <a:spcPct val="20000"/>
        </a:spcBef>
        <a:spcAft>
          <a:spcPct val="0"/>
        </a:spcAft>
        <a:buClr>
          <a:srgbClr val="E88651"/>
        </a:buClr>
        <a:buFont typeface="Wingdings 3" pitchFamily="18" charset="2"/>
        <a:buChar char=""/>
        <a:defRPr lang="en-US" sz="1500" kern="1200">
          <a:solidFill>
            <a:schemeClr val="tx1"/>
          </a:solidFill>
          <a:latin typeface="Garamond" panose="02020404030301010803" pitchFamily="18" charset="0"/>
          <a:ea typeface="+mn-ea"/>
          <a:cs typeface="+mn-cs"/>
        </a:defRPr>
      </a:lvl5pPr>
      <a:lvl6pPr marL="1220724" indent="-137160" algn="l" rtl="0" eaLnBrk="1" latinLnBrk="0" hangingPunct="1">
        <a:spcBef>
          <a:spcPct val="20000"/>
        </a:spcBef>
        <a:buClr>
          <a:schemeClr val="accent6"/>
        </a:buClr>
        <a:buSzPct val="100000"/>
        <a:buFont typeface="Wingdings 2"/>
        <a:buChar char=""/>
        <a:defRPr kumimoji="0" sz="1500" kern="1200">
          <a:solidFill>
            <a:schemeClr val="tx1"/>
          </a:solidFill>
          <a:latin typeface="+mn-lt"/>
          <a:ea typeface="+mn-ea"/>
          <a:cs typeface="+mn-cs"/>
        </a:defRPr>
      </a:lvl6pPr>
      <a:lvl7pPr marL="1371600" indent="-137160" algn="l" rtl="0" eaLnBrk="1" latinLnBrk="0" hangingPunct="1">
        <a:spcBef>
          <a:spcPct val="20000"/>
        </a:spcBef>
        <a:buClr>
          <a:schemeClr val="accent1"/>
        </a:buClr>
        <a:buSzPct val="100000"/>
        <a:buFont typeface="Wingdings 2"/>
        <a:buChar char=""/>
        <a:defRPr kumimoji="0" sz="1350" kern="1200">
          <a:solidFill>
            <a:schemeClr val="tx1"/>
          </a:solidFill>
          <a:latin typeface="+mn-lt"/>
          <a:ea typeface="+mn-ea"/>
          <a:cs typeface="+mn-cs"/>
        </a:defRPr>
      </a:lvl7pPr>
      <a:lvl8pPr marL="1522476" indent="-137160" algn="l" rtl="0" eaLnBrk="1" latinLnBrk="0" hangingPunct="1">
        <a:spcBef>
          <a:spcPct val="20000"/>
        </a:spcBef>
        <a:buClr>
          <a:schemeClr val="accent2"/>
        </a:buClr>
        <a:buFont typeface="Wingdings 2" pitchFamily="18" charset="2"/>
        <a:buChar char=""/>
        <a:defRPr kumimoji="0" sz="1350" kern="1200">
          <a:solidFill>
            <a:schemeClr val="tx1"/>
          </a:solidFill>
          <a:latin typeface="+mn-lt"/>
          <a:ea typeface="+mn-ea"/>
          <a:cs typeface="+mn-cs"/>
        </a:defRPr>
      </a:lvl8pPr>
      <a:lvl9pPr marL="1673352" indent="-137160" algn="l" rtl="0" eaLnBrk="1" latinLnBrk="0" hangingPunct="1">
        <a:spcBef>
          <a:spcPct val="20000"/>
        </a:spcBef>
        <a:buClr>
          <a:schemeClr val="accent3"/>
        </a:buClr>
        <a:buFont typeface="Wingdings 2" pitchFamily="18" charset="2"/>
        <a:buChar char=""/>
        <a:defRPr kumimoji="0" sz="135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a:extLst/>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5127" y="1828802"/>
            <a:ext cx="105156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ltLang="en-US"/>
          </a:p>
        </p:txBody>
      </p:sp>
      <p:sp>
        <p:nvSpPr>
          <p:cNvPr id="6" name="Slide Number Placeholder 5"/>
          <p:cNvSpPr>
            <a:spLocks noGrp="1"/>
          </p:cNvSpPr>
          <p:nvPr>
            <p:ph type="sldNum" sz="quarter" idx="4"/>
          </p:nvPr>
        </p:nvSpPr>
        <p:spPr>
          <a:xfrm>
            <a:off x="8617527" y="6356352"/>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21801725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5127" y="1828802"/>
            <a:ext cx="105156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ltLang="en-US"/>
          </a:p>
        </p:txBody>
      </p:sp>
      <p:sp>
        <p:nvSpPr>
          <p:cNvPr id="6" name="Slide Number Placeholder 5"/>
          <p:cNvSpPr>
            <a:spLocks noGrp="1"/>
          </p:cNvSpPr>
          <p:nvPr>
            <p:ph type="sldNum" sz="quarter" idx="4"/>
          </p:nvPr>
        </p:nvSpPr>
        <p:spPr>
          <a:xfrm>
            <a:off x="8617527" y="6356352"/>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26066383"/>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5127" y="1828802"/>
            <a:ext cx="105156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ltLang="en-US"/>
          </a:p>
        </p:txBody>
      </p:sp>
      <p:sp>
        <p:nvSpPr>
          <p:cNvPr id="6" name="Slide Number Placeholder 5"/>
          <p:cNvSpPr>
            <a:spLocks noGrp="1"/>
          </p:cNvSpPr>
          <p:nvPr>
            <p:ph type="sldNum" sz="quarter" idx="4"/>
          </p:nvPr>
        </p:nvSpPr>
        <p:spPr>
          <a:xfrm>
            <a:off x="8617527" y="6356352"/>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884398A2-5B08-4719-8AB1-C65CB992074D}" type="slidenum">
              <a:rPr lang="en-US" altLang="en-US" smtClean="0"/>
              <a:pPr/>
              <a:t>‹#›</a:t>
            </a:fld>
            <a:endParaRPr lang="en-US" altLang="en-US"/>
          </a:p>
        </p:txBody>
      </p:sp>
    </p:spTree>
    <p:extLst>
      <p:ext uri="{BB962C8B-B14F-4D97-AF65-F5344CB8AC3E}">
        <p14:creationId xmlns:p14="http://schemas.microsoft.com/office/powerpoint/2010/main" val="390761635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D76F9-9FB5-962B-5834-587218CEFE56}"/>
              </a:ext>
            </a:extLst>
          </p:cNvPr>
          <p:cNvSpPr>
            <a:spLocks noGrp="1"/>
          </p:cNvSpPr>
          <p:nvPr>
            <p:ph type="ctrTitle"/>
          </p:nvPr>
        </p:nvSpPr>
        <p:spPr/>
        <p:txBody>
          <a:bodyPr/>
          <a:lstStyle/>
          <a:p>
            <a:r>
              <a:rPr lang="en-US" b="0" dirty="0"/>
              <a:t>Price Controls Cause Chaos</a:t>
            </a:r>
            <a:r>
              <a:rPr lang="en-US" dirty="0"/>
              <a:t> </a:t>
            </a:r>
          </a:p>
        </p:txBody>
      </p:sp>
      <p:sp>
        <p:nvSpPr>
          <p:cNvPr id="3" name="Subtitle 2">
            <a:extLst>
              <a:ext uri="{FF2B5EF4-FFF2-40B4-BE49-F238E27FC236}">
                <a16:creationId xmlns:a16="http://schemas.microsoft.com/office/drawing/2014/main" id="{AB808F23-F0AF-B13B-68A6-65CE9C7236E3}"/>
              </a:ext>
            </a:extLst>
          </p:cNvPr>
          <p:cNvSpPr>
            <a:spLocks noGrp="1"/>
          </p:cNvSpPr>
          <p:nvPr>
            <p:ph type="subTitle" idx="1"/>
          </p:nvPr>
        </p:nvSpPr>
        <p:spPr/>
        <p:txBody>
          <a:bodyPr/>
          <a:lstStyle/>
          <a:p>
            <a:r>
              <a:rPr lang="en-US" sz="1600" dirty="0"/>
              <a:t>Brian C. Albrecht</a:t>
            </a:r>
          </a:p>
          <a:p>
            <a:r>
              <a:rPr lang="en-US" sz="1600" dirty="0"/>
              <a:t>ICLE</a:t>
            </a:r>
          </a:p>
          <a:p>
            <a:endParaRPr lang="en-US" sz="1600" dirty="0"/>
          </a:p>
          <a:p>
            <a:r>
              <a:rPr lang="en-US" sz="1600" dirty="0"/>
              <a:t>Alex Tabarrok</a:t>
            </a:r>
          </a:p>
          <a:p>
            <a:r>
              <a:rPr lang="en-US" sz="1600" dirty="0"/>
              <a:t>George Mason University</a:t>
            </a:r>
          </a:p>
          <a:p>
            <a:endParaRPr lang="en-US" sz="1600" dirty="0"/>
          </a:p>
          <a:p>
            <a:r>
              <a:rPr lang="en-US" sz="1600" dirty="0"/>
              <a:t>Mark Whitmeyer </a:t>
            </a:r>
          </a:p>
          <a:p>
            <a:r>
              <a:rPr lang="en-US" sz="1600" dirty="0"/>
              <a:t>Arizona State University </a:t>
            </a:r>
          </a:p>
        </p:txBody>
      </p:sp>
    </p:spTree>
    <p:extLst>
      <p:ext uri="{BB962C8B-B14F-4D97-AF65-F5344CB8AC3E}">
        <p14:creationId xmlns:p14="http://schemas.microsoft.com/office/powerpoint/2010/main" val="1593502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54FF8C-9FFA-C5E4-B382-04099F23CDF9}"/>
              </a:ext>
            </a:extLst>
          </p:cNvPr>
          <p:cNvPicPr>
            <a:picLocks noChangeAspect="1"/>
          </p:cNvPicPr>
          <p:nvPr/>
        </p:nvPicPr>
        <p:blipFill>
          <a:blip r:embed="rId2"/>
          <a:stretch>
            <a:fillRect/>
          </a:stretch>
        </p:blipFill>
        <p:spPr>
          <a:xfrm>
            <a:off x="5899316" y="1883406"/>
            <a:ext cx="6205113" cy="4097916"/>
          </a:xfrm>
          <a:prstGeom prst="rect">
            <a:avLst/>
          </a:prstGeom>
        </p:spPr>
      </p:pic>
      <p:sp>
        <p:nvSpPr>
          <p:cNvPr id="7" name="Content Placeholder 6">
            <a:extLst>
              <a:ext uri="{FF2B5EF4-FFF2-40B4-BE49-F238E27FC236}">
                <a16:creationId xmlns:a16="http://schemas.microsoft.com/office/drawing/2014/main" id="{EEB92CBF-4DF4-7B6D-675D-D77BDB4F361B}"/>
              </a:ext>
            </a:extLst>
          </p:cNvPr>
          <p:cNvSpPr>
            <a:spLocks noGrp="1"/>
          </p:cNvSpPr>
          <p:nvPr>
            <p:ph idx="1"/>
          </p:nvPr>
        </p:nvSpPr>
        <p:spPr>
          <a:xfrm>
            <a:off x="609600" y="1774825"/>
            <a:ext cx="5614985" cy="4625975"/>
          </a:xfrm>
        </p:spPr>
        <p:txBody>
          <a:bodyPr/>
          <a:lstStyle/>
          <a:p>
            <a:r>
              <a:rPr lang="en-US" dirty="0"/>
              <a:t>Econ 101: A price ceiling at Pc creates DWL given by the </a:t>
            </a:r>
            <a:r>
              <a:rPr lang="en-US" dirty="0" err="1"/>
              <a:t>Harberger</a:t>
            </a:r>
            <a:r>
              <a:rPr lang="en-US" dirty="0"/>
              <a:t> Triangle.</a:t>
            </a:r>
          </a:p>
          <a:p>
            <a:r>
              <a:rPr lang="en-US" dirty="0"/>
              <a:t>But note that this assumes that allocation is efficient. That is it assumes that the Qc of output is allocated to the demanders with the highest willingness to pay (WTP).</a:t>
            </a:r>
          </a:p>
          <a:p>
            <a:r>
              <a:rPr lang="en-US" dirty="0"/>
              <a:t>But why should this be? </a:t>
            </a:r>
          </a:p>
          <a:p>
            <a:r>
              <a:rPr lang="en-US" dirty="0"/>
              <a:t>Note that there are many more people willing to pay a price higher than Pc. </a:t>
            </a:r>
          </a:p>
          <a:p>
            <a:r>
              <a:rPr lang="en-US" dirty="0"/>
              <a:t>How can the consumers with the highest willingness to pay outbid consumers with a lower WTP when prices are fixed by law?</a:t>
            </a:r>
          </a:p>
        </p:txBody>
      </p:sp>
      <p:sp>
        <p:nvSpPr>
          <p:cNvPr id="12" name="TextBox 11">
            <a:extLst>
              <a:ext uri="{FF2B5EF4-FFF2-40B4-BE49-F238E27FC236}">
                <a16:creationId xmlns:a16="http://schemas.microsoft.com/office/drawing/2014/main" id="{9A0F0E70-1353-25E4-9E7C-5BD3BD5B993D}"/>
              </a:ext>
            </a:extLst>
          </p:cNvPr>
          <p:cNvSpPr txBox="1"/>
          <p:nvPr/>
        </p:nvSpPr>
        <p:spPr>
          <a:xfrm>
            <a:off x="7062199" y="5979262"/>
            <a:ext cx="4237491" cy="646331"/>
          </a:xfrm>
          <a:prstGeom prst="rect">
            <a:avLst/>
          </a:prstGeom>
          <a:noFill/>
        </p:spPr>
        <p:txBody>
          <a:bodyPr wrap="square" rtlCol="0">
            <a:spAutoFit/>
          </a:bodyPr>
          <a:lstStyle/>
          <a:p>
            <a:r>
              <a:rPr lang="en-US" dirty="0">
                <a:latin typeface="Garamond" panose="02020404030301010803" pitchFamily="18" charset="0"/>
              </a:rPr>
              <a:t>A price ceiling at Pc creates DWL given by the </a:t>
            </a:r>
            <a:r>
              <a:rPr lang="en-US" dirty="0" err="1">
                <a:latin typeface="Garamond" panose="02020404030301010803" pitchFamily="18" charset="0"/>
              </a:rPr>
              <a:t>Harberger</a:t>
            </a:r>
            <a:r>
              <a:rPr lang="en-US" dirty="0">
                <a:latin typeface="Garamond" panose="02020404030301010803" pitchFamily="18" charset="0"/>
              </a:rPr>
              <a:t> Triangle</a:t>
            </a:r>
          </a:p>
        </p:txBody>
      </p:sp>
      <p:cxnSp>
        <p:nvCxnSpPr>
          <p:cNvPr id="15" name="Straight Connector 14">
            <a:extLst>
              <a:ext uri="{FF2B5EF4-FFF2-40B4-BE49-F238E27FC236}">
                <a16:creationId xmlns:a16="http://schemas.microsoft.com/office/drawing/2014/main" id="{18CC395C-BDAB-812C-2BCD-55C17F3375FD}"/>
              </a:ext>
            </a:extLst>
          </p:cNvPr>
          <p:cNvCxnSpPr>
            <a:cxnSpLocks/>
          </p:cNvCxnSpPr>
          <p:nvPr/>
        </p:nvCxnSpPr>
        <p:spPr>
          <a:xfrm>
            <a:off x="6696363" y="2622070"/>
            <a:ext cx="1228437" cy="638366"/>
          </a:xfrm>
          <a:prstGeom prst="line">
            <a:avLst/>
          </a:prstGeom>
        </p:spPr>
        <p:style>
          <a:lnRef idx="2">
            <a:schemeClr val="accent4"/>
          </a:lnRef>
          <a:fillRef idx="0">
            <a:schemeClr val="accent4"/>
          </a:fillRef>
          <a:effectRef idx="1">
            <a:schemeClr val="accent4"/>
          </a:effectRef>
          <a:fontRef idx="minor">
            <a:schemeClr val="tx1"/>
          </a:fontRef>
        </p:style>
      </p:cxnSp>
      <p:sp>
        <p:nvSpPr>
          <p:cNvPr id="16" name="TextBox 15">
            <a:extLst>
              <a:ext uri="{FF2B5EF4-FFF2-40B4-BE49-F238E27FC236}">
                <a16:creationId xmlns:a16="http://schemas.microsoft.com/office/drawing/2014/main" id="{566F2AE6-95F5-C284-5CAB-8873923DA8C1}"/>
              </a:ext>
            </a:extLst>
          </p:cNvPr>
          <p:cNvSpPr txBox="1"/>
          <p:nvPr/>
        </p:nvSpPr>
        <p:spPr>
          <a:xfrm>
            <a:off x="7185990" y="2164523"/>
            <a:ext cx="1229824" cy="738664"/>
          </a:xfrm>
          <a:prstGeom prst="rect">
            <a:avLst/>
          </a:prstGeom>
          <a:noFill/>
        </p:spPr>
        <p:txBody>
          <a:bodyPr wrap="none" rtlCol="0">
            <a:spAutoFit/>
          </a:bodyPr>
          <a:lstStyle/>
          <a:p>
            <a:r>
              <a:rPr lang="en-US" sz="1400" dirty="0">
                <a:latin typeface="Segoe UI Historic" panose="020B0502040204020203" pitchFamily="34" charset="0"/>
                <a:ea typeface="Segoe UI Historic" panose="020B0502040204020203" pitchFamily="34" charset="0"/>
                <a:cs typeface="Segoe UI Historic" panose="020B0502040204020203" pitchFamily="34" charset="0"/>
              </a:rPr>
              <a:t>Demanders</a:t>
            </a:r>
          </a:p>
          <a:p>
            <a:r>
              <a:rPr lang="en-US" sz="1400" dirty="0">
                <a:latin typeface="Segoe UI Historic" panose="020B0502040204020203" pitchFamily="34" charset="0"/>
                <a:ea typeface="Segoe UI Historic" panose="020B0502040204020203" pitchFamily="34" charset="0"/>
                <a:cs typeface="Segoe UI Historic" panose="020B0502040204020203" pitchFamily="34" charset="0"/>
              </a:rPr>
              <a:t>with Highest </a:t>
            </a:r>
          </a:p>
          <a:p>
            <a:r>
              <a:rPr lang="en-US" sz="1400" dirty="0">
                <a:latin typeface="Segoe UI Historic" panose="020B0502040204020203" pitchFamily="34" charset="0"/>
                <a:ea typeface="Segoe UI Historic" panose="020B0502040204020203" pitchFamily="34" charset="0"/>
                <a:cs typeface="Segoe UI Historic" panose="020B0502040204020203" pitchFamily="34" charset="0"/>
              </a:rPr>
              <a:t>WTP</a:t>
            </a:r>
          </a:p>
        </p:txBody>
      </p:sp>
      <p:cxnSp>
        <p:nvCxnSpPr>
          <p:cNvPr id="17" name="Straight Connector 16">
            <a:extLst>
              <a:ext uri="{FF2B5EF4-FFF2-40B4-BE49-F238E27FC236}">
                <a16:creationId xmlns:a16="http://schemas.microsoft.com/office/drawing/2014/main" id="{2714FF2A-8B77-3CB8-AF22-BF9FDC24FCA6}"/>
              </a:ext>
            </a:extLst>
          </p:cNvPr>
          <p:cNvCxnSpPr>
            <a:cxnSpLocks/>
          </p:cNvCxnSpPr>
          <p:nvPr/>
        </p:nvCxnSpPr>
        <p:spPr>
          <a:xfrm>
            <a:off x="6696363" y="2622070"/>
            <a:ext cx="2438401" cy="1247966"/>
          </a:xfrm>
          <a:prstGeom prst="line">
            <a:avLst/>
          </a:prstGeom>
          <a:ln>
            <a:solidFill>
              <a:srgbClr val="0070C0"/>
            </a:solidFill>
          </a:ln>
        </p:spPr>
        <p:style>
          <a:lnRef idx="2">
            <a:schemeClr val="accent4"/>
          </a:lnRef>
          <a:fillRef idx="0">
            <a:schemeClr val="accent4"/>
          </a:fillRef>
          <a:effectRef idx="1">
            <a:schemeClr val="accent4"/>
          </a:effectRef>
          <a:fontRef idx="minor">
            <a:schemeClr val="tx1"/>
          </a:fontRef>
        </p:style>
      </p:cxnSp>
      <p:sp>
        <p:nvSpPr>
          <p:cNvPr id="34" name="Title 33">
            <a:extLst>
              <a:ext uri="{FF2B5EF4-FFF2-40B4-BE49-F238E27FC236}">
                <a16:creationId xmlns:a16="http://schemas.microsoft.com/office/drawing/2014/main" id="{B3064ABB-C8E9-EEC9-1ECF-5AD12E33785E}"/>
              </a:ext>
            </a:extLst>
          </p:cNvPr>
          <p:cNvSpPr>
            <a:spLocks noGrp="1"/>
          </p:cNvSpPr>
          <p:nvPr>
            <p:ph type="title"/>
          </p:nvPr>
        </p:nvSpPr>
        <p:spPr/>
        <p:txBody>
          <a:bodyPr/>
          <a:lstStyle/>
          <a:p>
            <a:r>
              <a:rPr lang="en-US" dirty="0" err="1"/>
              <a:t>Harberger</a:t>
            </a:r>
            <a:r>
              <a:rPr lang="en-US" dirty="0"/>
              <a:t> Triangle</a:t>
            </a:r>
          </a:p>
        </p:txBody>
      </p:sp>
    </p:spTree>
    <p:extLst>
      <p:ext uri="{BB962C8B-B14F-4D97-AF65-F5344CB8AC3E}">
        <p14:creationId xmlns:p14="http://schemas.microsoft.com/office/powerpoint/2010/main" val="203791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left)">
                                      <p:cBhvr>
                                        <p:cTn id="7" dur="500"/>
                                        <p:tgtEl>
                                          <p:spTgt spid="7">
                                            <p:txEl>
                                              <p:pRg st="1" end="1"/>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par>
                                <p:cTn id="12" presetID="22" presetClass="entr" presetSubtype="1"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up)">
                                      <p:cBhvr>
                                        <p:cTn id="14" dur="500"/>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wipe(left)">
                                      <p:cBhvr>
                                        <p:cTn id="19" dur="500"/>
                                        <p:tgtEl>
                                          <p:spTgt spid="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wipe(left)">
                                      <p:cBhvr>
                                        <p:cTn id="24" dur="500"/>
                                        <p:tgtEl>
                                          <p:spTgt spid="7">
                                            <p:txEl>
                                              <p:pRg st="3" end="3"/>
                                            </p:txEl>
                                          </p:spTgt>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up)">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wipe(left)">
                                      <p:cBhvr>
                                        <p:cTn id="33"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9A3643-D772-2740-1E51-394F4F89457C}"/>
              </a:ext>
            </a:extLst>
          </p:cNvPr>
          <p:cNvPicPr>
            <a:picLocks noChangeAspect="1"/>
          </p:cNvPicPr>
          <p:nvPr/>
        </p:nvPicPr>
        <p:blipFill>
          <a:blip r:embed="rId2"/>
          <a:stretch>
            <a:fillRect/>
          </a:stretch>
        </p:blipFill>
        <p:spPr>
          <a:xfrm>
            <a:off x="6306023" y="1878034"/>
            <a:ext cx="5794294" cy="4174836"/>
          </a:xfrm>
          <a:prstGeom prst="rect">
            <a:avLst/>
          </a:prstGeom>
        </p:spPr>
      </p:pic>
      <p:sp>
        <p:nvSpPr>
          <p:cNvPr id="2" name="Title 1">
            <a:extLst>
              <a:ext uri="{FF2B5EF4-FFF2-40B4-BE49-F238E27FC236}">
                <a16:creationId xmlns:a16="http://schemas.microsoft.com/office/drawing/2014/main" id="{D0F4D2E5-21C1-DF4A-6AAE-6A92E56D6BCA}"/>
              </a:ext>
            </a:extLst>
          </p:cNvPr>
          <p:cNvSpPr>
            <a:spLocks noGrp="1"/>
          </p:cNvSpPr>
          <p:nvPr>
            <p:ph type="title"/>
          </p:nvPr>
        </p:nvSpPr>
        <p:spPr/>
        <p:txBody>
          <a:bodyPr/>
          <a:lstStyle/>
          <a:p>
            <a:r>
              <a:rPr lang="en-US" dirty="0"/>
              <a:t>Random Allocation</a:t>
            </a:r>
          </a:p>
        </p:txBody>
      </p:sp>
      <p:sp>
        <p:nvSpPr>
          <p:cNvPr id="3" name="Content Placeholder 2">
            <a:extLst>
              <a:ext uri="{FF2B5EF4-FFF2-40B4-BE49-F238E27FC236}">
                <a16:creationId xmlns:a16="http://schemas.microsoft.com/office/drawing/2014/main" id="{2A276122-F4CA-52D9-67EB-94F3CDE43902}"/>
              </a:ext>
            </a:extLst>
          </p:cNvPr>
          <p:cNvSpPr>
            <a:spLocks noGrp="1"/>
          </p:cNvSpPr>
          <p:nvPr>
            <p:ph idx="1"/>
          </p:nvPr>
        </p:nvSpPr>
        <p:spPr>
          <a:xfrm>
            <a:off x="609599" y="1774825"/>
            <a:ext cx="5696423" cy="4625975"/>
          </a:xfrm>
        </p:spPr>
        <p:txBody>
          <a:bodyPr/>
          <a:lstStyle/>
          <a:p>
            <a:r>
              <a:rPr lang="en-US" dirty="0"/>
              <a:t>A natural response is to ask what happens under random allocation?</a:t>
            </a:r>
          </a:p>
          <a:p>
            <a:r>
              <a:rPr lang="en-US" dirty="0"/>
              <a:t>Since under random allocation some output now goes to consumers who value it less than the highest willingness to pay, deadweight loss increases.</a:t>
            </a:r>
          </a:p>
          <a:p>
            <a:r>
              <a:rPr lang="en-US" dirty="0"/>
              <a:t>By how much?</a:t>
            </a:r>
          </a:p>
          <a:p>
            <a:r>
              <a:rPr lang="en-US" dirty="0"/>
              <a:t>Two neat visuals.</a:t>
            </a:r>
          </a:p>
        </p:txBody>
      </p:sp>
      <p:sp>
        <p:nvSpPr>
          <p:cNvPr id="11" name="TextBox 10">
            <a:extLst>
              <a:ext uri="{FF2B5EF4-FFF2-40B4-BE49-F238E27FC236}">
                <a16:creationId xmlns:a16="http://schemas.microsoft.com/office/drawing/2014/main" id="{4940633D-27D9-F207-703A-3F25B7FC4423}"/>
              </a:ext>
            </a:extLst>
          </p:cNvPr>
          <p:cNvSpPr txBox="1"/>
          <p:nvPr/>
        </p:nvSpPr>
        <p:spPr>
          <a:xfrm>
            <a:off x="8219551" y="3666067"/>
            <a:ext cx="1376624" cy="461665"/>
          </a:xfrm>
          <a:prstGeom prst="rect">
            <a:avLst/>
          </a:prstGeom>
          <a:noFill/>
        </p:spPr>
        <p:txBody>
          <a:bodyPr wrap="square" rtlCol="0">
            <a:spAutoFit/>
          </a:bodyPr>
          <a:lstStyle/>
          <a:p>
            <a:r>
              <a:rPr lang="en-US" sz="1200" dirty="0" err="1">
                <a:latin typeface="Segoe UI Historic" panose="020B0502040204020203" pitchFamily="34" charset="0"/>
                <a:ea typeface="Segoe UI Historic" panose="020B0502040204020203" pitchFamily="34" charset="0"/>
                <a:cs typeface="Segoe UI Historic" panose="020B0502040204020203" pitchFamily="34" charset="0"/>
              </a:rPr>
              <a:t>Harberger</a:t>
            </a:r>
            <a:r>
              <a:rPr lang="en-US" sz="1200" dirty="0">
                <a:latin typeface="Segoe UI Historic" panose="020B0502040204020203" pitchFamily="34" charset="0"/>
                <a:ea typeface="Segoe UI Historic" panose="020B0502040204020203" pitchFamily="34" charset="0"/>
                <a:cs typeface="Segoe UI Historic" panose="020B0502040204020203" pitchFamily="34" charset="0"/>
              </a:rPr>
              <a:t> Triangle</a:t>
            </a:r>
          </a:p>
        </p:txBody>
      </p:sp>
    </p:spTree>
    <p:extLst>
      <p:ext uri="{BB962C8B-B14F-4D97-AF65-F5344CB8AC3E}">
        <p14:creationId xmlns:p14="http://schemas.microsoft.com/office/powerpoint/2010/main" val="3862896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28ECE-417C-8B2A-FF3C-B7C9DCFEA4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5BCF53A-5977-3D71-73AE-1B7C9166C67E}"/>
              </a:ext>
            </a:extLst>
          </p:cNvPr>
          <p:cNvPicPr>
            <a:picLocks noChangeAspect="1"/>
          </p:cNvPicPr>
          <p:nvPr/>
        </p:nvPicPr>
        <p:blipFill>
          <a:blip r:embed="rId2"/>
          <a:stretch>
            <a:fillRect/>
          </a:stretch>
        </p:blipFill>
        <p:spPr>
          <a:xfrm>
            <a:off x="6609702" y="1845158"/>
            <a:ext cx="5582298" cy="5083175"/>
          </a:xfrm>
          <a:prstGeom prst="rect">
            <a:avLst/>
          </a:prstGeom>
        </p:spPr>
      </p:pic>
      <p:sp>
        <p:nvSpPr>
          <p:cNvPr id="2" name="Title 1">
            <a:extLst>
              <a:ext uri="{FF2B5EF4-FFF2-40B4-BE49-F238E27FC236}">
                <a16:creationId xmlns:a16="http://schemas.microsoft.com/office/drawing/2014/main" id="{8EC19DFA-00AA-2300-AB00-DC020C8038C7}"/>
              </a:ext>
            </a:extLst>
          </p:cNvPr>
          <p:cNvSpPr>
            <a:spLocks noGrp="1"/>
          </p:cNvSpPr>
          <p:nvPr>
            <p:ph type="title"/>
          </p:nvPr>
        </p:nvSpPr>
        <p:spPr/>
        <p:txBody>
          <a:bodyPr/>
          <a:lstStyle/>
          <a:p>
            <a:r>
              <a:rPr lang="en-US" dirty="0"/>
              <a:t>Random Allocation</a:t>
            </a:r>
          </a:p>
        </p:txBody>
      </p:sp>
      <p:sp>
        <p:nvSpPr>
          <p:cNvPr id="3" name="Content Placeholder 2">
            <a:extLst>
              <a:ext uri="{FF2B5EF4-FFF2-40B4-BE49-F238E27FC236}">
                <a16:creationId xmlns:a16="http://schemas.microsoft.com/office/drawing/2014/main" id="{B419EE4C-4629-442E-45E8-0F77786E18B0}"/>
              </a:ext>
            </a:extLst>
          </p:cNvPr>
          <p:cNvSpPr>
            <a:spLocks noGrp="1"/>
          </p:cNvSpPr>
          <p:nvPr>
            <p:ph idx="1"/>
          </p:nvPr>
        </p:nvSpPr>
        <p:spPr>
          <a:xfrm>
            <a:off x="609599" y="1774825"/>
            <a:ext cx="5696423" cy="4625975"/>
          </a:xfrm>
        </p:spPr>
        <p:txBody>
          <a:bodyPr/>
          <a:lstStyle/>
          <a:p>
            <a:r>
              <a:rPr lang="en-US" dirty="0"/>
              <a:t>A natural response is to ask what happens under random allocation?</a:t>
            </a:r>
          </a:p>
          <a:p>
            <a:r>
              <a:rPr lang="en-US" dirty="0"/>
              <a:t>Since under random allocation some output now goes to consumers who value it less than the highest willingness to pay, deadweight loss increases.</a:t>
            </a:r>
          </a:p>
          <a:p>
            <a:r>
              <a:rPr lang="en-US" dirty="0"/>
              <a:t>By how much?</a:t>
            </a:r>
          </a:p>
          <a:p>
            <a:r>
              <a:rPr lang="en-US" dirty="0"/>
              <a:t>Two neat visuals.</a:t>
            </a:r>
          </a:p>
        </p:txBody>
      </p:sp>
      <p:sp>
        <p:nvSpPr>
          <p:cNvPr id="11" name="TextBox 10">
            <a:extLst>
              <a:ext uri="{FF2B5EF4-FFF2-40B4-BE49-F238E27FC236}">
                <a16:creationId xmlns:a16="http://schemas.microsoft.com/office/drawing/2014/main" id="{4D9EE772-DB19-07B5-922B-41149EC29BED}"/>
              </a:ext>
            </a:extLst>
          </p:cNvPr>
          <p:cNvSpPr txBox="1"/>
          <p:nvPr/>
        </p:nvSpPr>
        <p:spPr>
          <a:xfrm>
            <a:off x="8228682" y="3656008"/>
            <a:ext cx="1376624" cy="461665"/>
          </a:xfrm>
          <a:prstGeom prst="rect">
            <a:avLst/>
          </a:prstGeom>
          <a:noFill/>
        </p:spPr>
        <p:txBody>
          <a:bodyPr wrap="square" rtlCol="0">
            <a:spAutoFit/>
          </a:bodyPr>
          <a:lstStyle/>
          <a:p>
            <a:r>
              <a:rPr lang="en-US" sz="1200" dirty="0" err="1">
                <a:latin typeface="Segoe UI Historic" panose="020B0502040204020203" pitchFamily="34" charset="0"/>
                <a:ea typeface="Segoe UI Historic" panose="020B0502040204020203" pitchFamily="34" charset="0"/>
                <a:cs typeface="Segoe UI Historic" panose="020B0502040204020203" pitchFamily="34" charset="0"/>
              </a:rPr>
              <a:t>Harberger</a:t>
            </a:r>
            <a:r>
              <a:rPr lang="en-US" sz="1200" dirty="0">
                <a:latin typeface="Segoe UI Historic" panose="020B0502040204020203" pitchFamily="34" charset="0"/>
                <a:ea typeface="Segoe UI Historic" panose="020B0502040204020203" pitchFamily="34" charset="0"/>
                <a:cs typeface="Segoe UI Historic" panose="020B0502040204020203" pitchFamily="34" charset="0"/>
              </a:rPr>
              <a:t> Triangle</a:t>
            </a:r>
          </a:p>
        </p:txBody>
      </p:sp>
    </p:spTree>
    <p:extLst>
      <p:ext uri="{BB962C8B-B14F-4D97-AF65-F5344CB8AC3E}">
        <p14:creationId xmlns:p14="http://schemas.microsoft.com/office/powerpoint/2010/main" val="3404372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4C697-312B-5325-A73B-FF4396522489}"/>
              </a:ext>
            </a:extLst>
          </p:cNvPr>
          <p:cNvSpPr>
            <a:spLocks noGrp="1"/>
          </p:cNvSpPr>
          <p:nvPr>
            <p:ph type="title"/>
          </p:nvPr>
        </p:nvSpPr>
        <p:spPr/>
        <p:txBody>
          <a:bodyPr/>
          <a:lstStyle/>
          <a:p>
            <a:r>
              <a:rPr lang="en-US" dirty="0"/>
              <a:t>Random Allocation</a:t>
            </a:r>
          </a:p>
        </p:txBody>
      </p:sp>
      <p:sp>
        <p:nvSpPr>
          <p:cNvPr id="3" name="Content Placeholder 2">
            <a:extLst>
              <a:ext uri="{FF2B5EF4-FFF2-40B4-BE49-F238E27FC236}">
                <a16:creationId xmlns:a16="http://schemas.microsoft.com/office/drawing/2014/main" id="{AB55E388-2596-4390-E534-0FC222F5F861}"/>
              </a:ext>
            </a:extLst>
          </p:cNvPr>
          <p:cNvSpPr>
            <a:spLocks noGrp="1"/>
          </p:cNvSpPr>
          <p:nvPr>
            <p:ph idx="1"/>
          </p:nvPr>
        </p:nvSpPr>
        <p:spPr/>
        <p:txBody>
          <a:bodyPr/>
          <a:lstStyle/>
          <a:p>
            <a:r>
              <a:rPr lang="en-US" dirty="0"/>
              <a:t>Random allocation has been studied by Glaeser and Luttmer (2003) and Bulow and Klemperer (2012) (among others).</a:t>
            </a:r>
          </a:p>
          <a:p>
            <a:r>
              <a:rPr lang="en-US" dirty="0"/>
              <a:t>Glaser and Luttmer (2003) argue that 21% of the apartments under NYC rent control are misallocated—leading to substantial welfare losses.</a:t>
            </a:r>
          </a:p>
          <a:p>
            <a:r>
              <a:rPr lang="en-US" dirty="0"/>
              <a:t>Bulow and Klemperer study when random allocation result in large misallocation losses: Requires information on log convexity, log concavity etc. of demand curves. Not obvious!</a:t>
            </a:r>
          </a:p>
          <a:p>
            <a:r>
              <a:rPr lang="en-US" dirty="0"/>
              <a:t>We study all possible allocations to different market segments.</a:t>
            </a:r>
          </a:p>
        </p:txBody>
      </p:sp>
    </p:spTree>
    <p:extLst>
      <p:ext uri="{BB962C8B-B14F-4D97-AF65-F5344CB8AC3E}">
        <p14:creationId xmlns:p14="http://schemas.microsoft.com/office/powerpoint/2010/main" val="1746433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2601-FAAF-C2BB-C42F-89BBB9FA6FCE}"/>
              </a:ext>
            </a:extLst>
          </p:cNvPr>
          <p:cNvSpPr>
            <a:spLocks noGrp="1"/>
          </p:cNvSpPr>
          <p:nvPr>
            <p:ph type="title"/>
          </p:nvPr>
        </p:nvSpPr>
        <p:spPr/>
        <p:txBody>
          <a:bodyPr/>
          <a:lstStyle/>
          <a:p>
            <a:r>
              <a:rPr lang="en-US" dirty="0"/>
              <a:t>Segments</a:t>
            </a:r>
          </a:p>
        </p:txBody>
      </p:sp>
      <p:sp>
        <p:nvSpPr>
          <p:cNvPr id="8" name="Content Placeholder 7">
            <a:extLst>
              <a:ext uri="{FF2B5EF4-FFF2-40B4-BE49-F238E27FC236}">
                <a16:creationId xmlns:a16="http://schemas.microsoft.com/office/drawing/2014/main" id="{9CE9CA0D-535B-0C28-0A1E-54B48B00DF68}"/>
              </a:ext>
            </a:extLst>
          </p:cNvPr>
          <p:cNvSpPr>
            <a:spLocks noGrp="1"/>
          </p:cNvSpPr>
          <p:nvPr>
            <p:ph idx="1"/>
          </p:nvPr>
        </p:nvSpPr>
        <p:spPr/>
        <p:txBody>
          <a:bodyPr/>
          <a:lstStyle/>
          <a:p>
            <a:r>
              <a:rPr lang="en-US" dirty="0"/>
              <a:t>Think about market segments: geographic, temporal, input-output....</a:t>
            </a:r>
          </a:p>
          <a:p>
            <a:r>
              <a:rPr lang="en-US" dirty="0"/>
              <a:t>For the </a:t>
            </a:r>
            <a:r>
              <a:rPr lang="en-US" dirty="0" err="1"/>
              <a:t>Harberger</a:t>
            </a:r>
            <a:r>
              <a:rPr lang="en-US" dirty="0"/>
              <a:t> triangle to represent DWL requires that shadow prices be equalized in all segments such that the sum of the segment quantities equals the quantity supplied at the controlled price.</a:t>
            </a:r>
          </a:p>
        </p:txBody>
      </p:sp>
      <p:pic>
        <p:nvPicPr>
          <p:cNvPr id="7" name="Picture 6">
            <a:extLst>
              <a:ext uri="{FF2B5EF4-FFF2-40B4-BE49-F238E27FC236}">
                <a16:creationId xmlns:a16="http://schemas.microsoft.com/office/drawing/2014/main" id="{A025FB07-3120-0D8A-E7FB-EC0AD25958D6}"/>
              </a:ext>
            </a:extLst>
          </p:cNvPr>
          <p:cNvPicPr>
            <a:picLocks noChangeAspect="1"/>
          </p:cNvPicPr>
          <p:nvPr/>
        </p:nvPicPr>
        <p:blipFill>
          <a:blip r:embed="rId3"/>
          <a:stretch>
            <a:fillRect/>
          </a:stretch>
        </p:blipFill>
        <p:spPr>
          <a:xfrm>
            <a:off x="1072055" y="4144402"/>
            <a:ext cx="10336056" cy="2623047"/>
          </a:xfrm>
          <a:prstGeom prst="rect">
            <a:avLst/>
          </a:prstGeom>
        </p:spPr>
      </p:pic>
    </p:spTree>
    <p:extLst>
      <p:ext uri="{BB962C8B-B14F-4D97-AF65-F5344CB8AC3E}">
        <p14:creationId xmlns:p14="http://schemas.microsoft.com/office/powerpoint/2010/main" val="2942172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9E4BD-F68B-D570-7836-E4EB40B432F3}"/>
              </a:ext>
            </a:extLst>
          </p:cNvPr>
          <p:cNvSpPr>
            <a:spLocks noGrp="1"/>
          </p:cNvSpPr>
          <p:nvPr>
            <p:ph type="title"/>
          </p:nvPr>
        </p:nvSpPr>
        <p:spPr/>
        <p:txBody>
          <a:bodyPr/>
          <a:lstStyle/>
          <a:p>
            <a:r>
              <a:rPr lang="en-US" dirty="0"/>
              <a:t>Segments</a:t>
            </a:r>
          </a:p>
        </p:txBody>
      </p:sp>
      <p:sp>
        <p:nvSpPr>
          <p:cNvPr id="3" name="Content Placeholder 2">
            <a:extLst>
              <a:ext uri="{FF2B5EF4-FFF2-40B4-BE49-F238E27FC236}">
                <a16:creationId xmlns:a16="http://schemas.microsoft.com/office/drawing/2014/main" id="{00EDD277-8F50-FC5C-8D8A-FDFD67F7E5FC}"/>
              </a:ext>
            </a:extLst>
          </p:cNvPr>
          <p:cNvSpPr>
            <a:spLocks noGrp="1"/>
          </p:cNvSpPr>
          <p:nvPr>
            <p:ph idx="1"/>
          </p:nvPr>
        </p:nvSpPr>
        <p:spPr>
          <a:xfrm>
            <a:off x="609599" y="1774825"/>
            <a:ext cx="3016470" cy="4618092"/>
          </a:xfrm>
        </p:spPr>
        <p:txBody>
          <a:bodyPr/>
          <a:lstStyle/>
          <a:p>
            <a:r>
              <a:rPr lang="en-US" dirty="0"/>
              <a:t>Why should shadow prices equalize when fixed money prices eliminate arbitrage incentives?</a:t>
            </a:r>
          </a:p>
          <a:p>
            <a:r>
              <a:rPr lang="en-US" dirty="0"/>
              <a:t>Note in Panel B segment 2 gets zero allocation and segment 1 gets over-allocation.</a:t>
            </a:r>
          </a:p>
          <a:p>
            <a:r>
              <a:rPr lang="en-US" dirty="0"/>
              <a:t>As a result </a:t>
            </a:r>
            <a:r>
              <a:rPr lang="en-US" dirty="0" err="1"/>
              <a:t>a+b</a:t>
            </a:r>
            <a:r>
              <a:rPr lang="en-US" dirty="0"/>
              <a:t>&gt;c</a:t>
            </a:r>
          </a:p>
        </p:txBody>
      </p:sp>
      <p:pic>
        <p:nvPicPr>
          <p:cNvPr id="5" name="Picture 4">
            <a:extLst>
              <a:ext uri="{FF2B5EF4-FFF2-40B4-BE49-F238E27FC236}">
                <a16:creationId xmlns:a16="http://schemas.microsoft.com/office/drawing/2014/main" id="{2ADB8A7E-2926-4BD4-5086-0447EDB790B8}"/>
              </a:ext>
            </a:extLst>
          </p:cNvPr>
          <p:cNvPicPr>
            <a:picLocks noChangeAspect="1"/>
          </p:cNvPicPr>
          <p:nvPr/>
        </p:nvPicPr>
        <p:blipFill>
          <a:blip r:embed="rId2"/>
          <a:stretch>
            <a:fillRect/>
          </a:stretch>
        </p:blipFill>
        <p:spPr>
          <a:xfrm>
            <a:off x="3381704" y="1699408"/>
            <a:ext cx="8678260" cy="4909613"/>
          </a:xfrm>
          <a:prstGeom prst="rect">
            <a:avLst/>
          </a:prstGeom>
        </p:spPr>
      </p:pic>
    </p:spTree>
    <p:extLst>
      <p:ext uri="{BB962C8B-B14F-4D97-AF65-F5344CB8AC3E}">
        <p14:creationId xmlns:p14="http://schemas.microsoft.com/office/powerpoint/2010/main" val="1947357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7E7C7C8-8EB8-ECB2-AFEC-FC77D7901DBF}"/>
              </a:ext>
            </a:extLst>
          </p:cNvPr>
          <p:cNvGrpSpPr/>
          <p:nvPr/>
        </p:nvGrpSpPr>
        <p:grpSpPr>
          <a:xfrm>
            <a:off x="1269123" y="1906729"/>
            <a:ext cx="8917191" cy="4375062"/>
            <a:chOff x="1269123" y="1906729"/>
            <a:chExt cx="8917191" cy="4375062"/>
          </a:xfrm>
        </p:grpSpPr>
        <p:grpSp>
          <p:nvGrpSpPr>
            <p:cNvPr id="22" name="Group 21">
              <a:extLst>
                <a:ext uri="{FF2B5EF4-FFF2-40B4-BE49-F238E27FC236}">
                  <a16:creationId xmlns:a16="http://schemas.microsoft.com/office/drawing/2014/main" id="{BCE4E97D-AB04-CBE8-3233-9D8C70F64C9C}"/>
                </a:ext>
              </a:extLst>
            </p:cNvPr>
            <p:cNvGrpSpPr/>
            <p:nvPr/>
          </p:nvGrpSpPr>
          <p:grpSpPr>
            <a:xfrm>
              <a:off x="1269123" y="1906729"/>
              <a:ext cx="8917191" cy="4375062"/>
              <a:chOff x="1269123" y="1906729"/>
              <a:chExt cx="8917191" cy="4375062"/>
            </a:xfrm>
          </p:grpSpPr>
          <p:pic>
            <p:nvPicPr>
              <p:cNvPr id="5" name="Picture 4" descr="A blue line with black text&#10;&#10;AI-generated content may be incorrect.">
                <a:extLst>
                  <a:ext uri="{FF2B5EF4-FFF2-40B4-BE49-F238E27FC236}">
                    <a16:creationId xmlns:a16="http://schemas.microsoft.com/office/drawing/2014/main" id="{EEE46AB3-3BAC-B106-74E5-D742C4EFE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123" y="1906729"/>
                <a:ext cx="8917191" cy="4375062"/>
              </a:xfrm>
              <a:prstGeom prst="rect">
                <a:avLst/>
              </a:prstGeom>
            </p:spPr>
          </p:pic>
          <p:sp>
            <p:nvSpPr>
              <p:cNvPr id="13" name="Oval 12">
                <a:extLst>
                  <a:ext uri="{FF2B5EF4-FFF2-40B4-BE49-F238E27FC236}">
                    <a16:creationId xmlns:a16="http://schemas.microsoft.com/office/drawing/2014/main" id="{B82EB0E8-8D0C-FBA9-BEC1-8FDAE7B7D8DE}"/>
                  </a:ext>
                </a:extLst>
              </p:cNvPr>
              <p:cNvSpPr/>
              <p:nvPr/>
            </p:nvSpPr>
            <p:spPr>
              <a:xfrm>
                <a:off x="5908919" y="5644056"/>
                <a:ext cx="45719" cy="45719"/>
              </a:xfrm>
              <a:prstGeom prst="ellipse">
                <a:avLst/>
              </a:prstGeom>
              <a:noFill/>
              <a:ln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402A84C4-03AF-4A20-352F-1EB877C0E366}"/>
                </a:ext>
              </a:extLst>
            </p:cNvPr>
            <p:cNvSpPr txBox="1"/>
            <p:nvPr/>
          </p:nvSpPr>
          <p:spPr>
            <a:xfrm>
              <a:off x="5297213" y="5644056"/>
              <a:ext cx="1223412" cy="369332"/>
            </a:xfrm>
            <a:prstGeom prst="rect">
              <a:avLst/>
            </a:prstGeom>
            <a:noFill/>
          </p:spPr>
          <p:txBody>
            <a:bodyPr wrap="none" rtlCol="0">
              <a:spAutoFit/>
            </a:bodyPr>
            <a:lstStyle/>
            <a:p>
              <a:r>
                <a:rPr lang="en-US" dirty="0" err="1">
                  <a:latin typeface="Segoe UI Historic" panose="020B0502040204020203" pitchFamily="34" charset="0"/>
                  <a:ea typeface="Segoe UI Historic" panose="020B0502040204020203" pitchFamily="34" charset="0"/>
                  <a:cs typeface="Segoe UI Historic" panose="020B0502040204020203" pitchFamily="34" charset="0"/>
                </a:rPr>
                <a:t>Harberger</a:t>
              </a:r>
              <a:endParaRPr lang="en-US" dirty="0">
                <a:latin typeface="Segoe UI Historic" panose="020B0502040204020203" pitchFamily="34" charset="0"/>
                <a:ea typeface="Segoe UI Historic" panose="020B0502040204020203" pitchFamily="34" charset="0"/>
                <a:cs typeface="Segoe UI Historic" panose="020B0502040204020203" pitchFamily="34" charset="0"/>
              </a:endParaRPr>
            </a:p>
          </p:txBody>
        </p:sp>
      </p:grpSp>
      <p:sp>
        <p:nvSpPr>
          <p:cNvPr id="2" name="Title 1">
            <a:extLst>
              <a:ext uri="{FF2B5EF4-FFF2-40B4-BE49-F238E27FC236}">
                <a16:creationId xmlns:a16="http://schemas.microsoft.com/office/drawing/2014/main" id="{041E7DF8-8BDE-1BC7-880C-7926B320DF7C}"/>
              </a:ext>
            </a:extLst>
          </p:cNvPr>
          <p:cNvSpPr>
            <a:spLocks noGrp="1"/>
          </p:cNvSpPr>
          <p:nvPr>
            <p:ph type="title"/>
          </p:nvPr>
        </p:nvSpPr>
        <p:spPr/>
        <p:txBody>
          <a:bodyPr/>
          <a:lstStyle/>
          <a:p>
            <a:r>
              <a:rPr lang="en-US" dirty="0"/>
              <a:t>What is possible?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BBE61C7-0F34-02F2-2990-9A8947960DCC}"/>
                  </a:ext>
                </a:extLst>
              </p:cNvPr>
              <p:cNvSpPr txBox="1"/>
              <p:nvPr/>
            </p:nvSpPr>
            <p:spPr>
              <a:xfrm>
                <a:off x="8644919" y="1951095"/>
                <a:ext cx="2806262" cy="1477905"/>
              </a:xfrm>
              <a:prstGeom prst="rect">
                <a:avLst/>
              </a:prstGeom>
              <a:noFill/>
            </p:spPr>
            <p:txBody>
              <a:bodyPr wrap="square" rtlCol="0">
                <a:spAutoFit/>
              </a:bodyPr>
              <a:lstStyle/>
              <a:p>
                <a:pPr algn="ctr"/>
                <a:r>
                  <a:rPr lang="en-US" dirty="0">
                    <a:latin typeface="Segoe UI Historic" panose="020B0502040204020203" pitchFamily="34" charset="0"/>
                    <a:ea typeface="Segoe UI Historic" panose="020B0502040204020203" pitchFamily="34" charset="0"/>
                    <a:cs typeface="Segoe UI Historic" panose="020B0502040204020203" pitchFamily="34" charset="0"/>
                  </a:rPr>
                  <a:t>Feasible Allocations</a:t>
                </a:r>
              </a:p>
              <a:p>
                <a:pPr algn="ctr"/>
                <a:endParaRPr lang="en-US" dirty="0"/>
              </a:p>
              <a:p>
                <a:pPr algn="ct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1</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i="1">
                            <a:latin typeface="Cambria Math" panose="02040503050406030204" pitchFamily="18" charset="0"/>
                          </a:rPr>
                          <m:t>𝑄</m:t>
                        </m:r>
                      </m:e>
                    </m:acc>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a14:m>
                <a:r>
                  <a:rPr lang="en-US" dirty="0">
                    <a:latin typeface="Segoe UI Historic" panose="020B0502040204020203" pitchFamily="34" charset="0"/>
                    <a:ea typeface="Segoe UI Historic" panose="020B0502040204020203" pitchFamily="34" charset="0"/>
                    <a:cs typeface="Segoe UI Historic" panose="020B0502040204020203" pitchFamily="34" charset="0"/>
                  </a:rPr>
                  <a:t>)</a:t>
                </a:r>
              </a:p>
              <a:p>
                <a:pPr algn="ct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1</m:t>
                        </m:r>
                      </m:sub>
                    </m:sSub>
                    <m:r>
                      <a:rPr lang="en-US" dirty="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ea typeface="Cambria Math" panose="02040503050406030204" pitchFamily="18" charset="0"/>
                          </a:rPr>
                        </m:ctrlPr>
                      </m:sSubPr>
                      <m:e>
                        <m:r>
                          <m:rPr>
                            <m:sty m:val="p"/>
                          </m:rPr>
                          <a:rPr lang="en-US" dirty="0">
                            <a:latin typeface="Cambria Math" panose="02040503050406030204" pitchFamily="18" charset="0"/>
                            <a:ea typeface="Cambria Math" panose="02040503050406030204" pitchFamily="18" charset="0"/>
                          </a:rPr>
                          <m:t>D</m:t>
                        </m:r>
                      </m:e>
                      <m:sub>
                        <m:r>
                          <a:rPr lang="en-US" b="0" i="1" dirty="0" smtClean="0">
                            <a:latin typeface="Cambria Math" panose="02040503050406030204" pitchFamily="18" charset="0"/>
                            <a:ea typeface="Cambria Math" panose="02040503050406030204" pitchFamily="18" charset="0"/>
                          </a:rPr>
                          <m:t>1</m:t>
                        </m:r>
                      </m:sub>
                    </m:sSub>
                    <m:r>
                      <a:rPr lang="en-US" b="0" i="0" dirty="0"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latin typeface="Segoe UI Historic" panose="020B0502040204020203" pitchFamily="34" charset="0"/>
                    <a:ea typeface="Segoe UI Historic" panose="020B0502040204020203" pitchFamily="34" charset="0"/>
                    <a:cs typeface="Segoe UI Historic" panose="020B0502040204020203" pitchFamily="34" charset="0"/>
                  </a:rPr>
                  <a:t>)</a:t>
                </a:r>
              </a:p>
              <a:p>
                <a:pPr algn="ct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𝑞</m:t>
                        </m:r>
                      </m:e>
                      <m:sub>
                        <m:r>
                          <a:rPr lang="en-US" b="0" i="1" smtClean="0">
                            <a:latin typeface="Cambria Math" panose="02040503050406030204" pitchFamily="18" charset="0"/>
                          </a:rPr>
                          <m:t>2</m:t>
                        </m:r>
                      </m:sub>
                    </m:sSub>
                    <m:r>
                      <a:rPr lang="en-US"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m:rPr>
                            <m:sty m:val="p"/>
                          </m:rPr>
                          <a:rPr lang="en-US" dirty="0">
                            <a:latin typeface="Cambria Math" panose="02040503050406030204" pitchFamily="18" charset="0"/>
                            <a:ea typeface="Cambria Math" panose="02040503050406030204" pitchFamily="18" charset="0"/>
                          </a:rPr>
                          <m:t>D</m:t>
                        </m:r>
                      </m:e>
                      <m:sub>
                        <m:r>
                          <a:rPr lang="en-US" b="0" i="1" dirty="0" smtClean="0">
                            <a:latin typeface="Cambria Math" panose="02040503050406030204" pitchFamily="18" charset="0"/>
                            <a:ea typeface="Cambria Math" panose="02040503050406030204" pitchFamily="18" charset="0"/>
                          </a:rPr>
                          <m:t>2</m:t>
                        </m:r>
                      </m:sub>
                    </m:sSub>
                    <m:r>
                      <a:rPr lang="en-US" b="0" i="0" dirty="0"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𝑝</m:t>
                        </m:r>
                      </m:e>
                    </m:acc>
                  </m:oMath>
                </a14:m>
                <a:r>
                  <a:rPr lang="en-US" dirty="0">
                    <a:latin typeface="Segoe UI Historic" panose="020B0502040204020203" pitchFamily="34" charset="0"/>
                    <a:ea typeface="Segoe UI Historic" panose="020B0502040204020203" pitchFamily="34" charset="0"/>
                    <a:cs typeface="Segoe UI Historic" panose="020B0502040204020203" pitchFamily="34" charset="0"/>
                  </a:rPr>
                  <a:t>)</a:t>
                </a:r>
              </a:p>
            </p:txBody>
          </p:sp>
        </mc:Choice>
        <mc:Fallback xmlns="">
          <p:sp>
            <p:nvSpPr>
              <p:cNvPr id="6" name="TextBox 5">
                <a:extLst>
                  <a:ext uri="{FF2B5EF4-FFF2-40B4-BE49-F238E27FC236}">
                    <a16:creationId xmlns:a16="http://schemas.microsoft.com/office/drawing/2014/main" id="{2BBE61C7-0F34-02F2-2990-9A8947960DCC}"/>
                  </a:ext>
                </a:extLst>
              </p:cNvPr>
              <p:cNvSpPr txBox="1">
                <a:spLocks noRot="1" noChangeAspect="1" noMove="1" noResize="1" noEditPoints="1" noAdjustHandles="1" noChangeArrowheads="1" noChangeShapeType="1" noTextEdit="1"/>
              </p:cNvSpPr>
              <p:nvPr/>
            </p:nvSpPr>
            <p:spPr>
              <a:xfrm>
                <a:off x="8644919" y="1951095"/>
                <a:ext cx="2806262" cy="1477905"/>
              </a:xfrm>
              <a:prstGeom prst="rect">
                <a:avLst/>
              </a:prstGeom>
              <a:blipFill>
                <a:blip r:embed="rId3"/>
                <a:stretch>
                  <a:fillRect t="-1646" b="-5761"/>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C903F2BD-99A9-FA6E-E786-E0B633919DDB}"/>
              </a:ext>
            </a:extLst>
          </p:cNvPr>
          <p:cNvSpPr/>
          <p:nvPr/>
        </p:nvSpPr>
        <p:spPr>
          <a:xfrm>
            <a:off x="1950268" y="2512291"/>
            <a:ext cx="55418" cy="55418"/>
          </a:xfrm>
          <a:prstGeom prst="ellipse">
            <a:avLst/>
          </a:prstGeom>
          <a:noFill/>
          <a:ln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65B29D2-B65D-E10A-7296-EFDD1D28C6AE}"/>
              </a:ext>
            </a:extLst>
          </p:cNvPr>
          <p:cNvSpPr/>
          <p:nvPr/>
        </p:nvSpPr>
        <p:spPr>
          <a:xfrm>
            <a:off x="7883236" y="4835236"/>
            <a:ext cx="55418" cy="55418"/>
          </a:xfrm>
          <a:prstGeom prst="ellipse">
            <a:avLst/>
          </a:prstGeom>
          <a:noFill/>
          <a:ln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84EDDA9E-0116-B9AD-8FC9-29CC67D6CE3B}"/>
              </a:ext>
            </a:extLst>
          </p:cNvPr>
          <p:cNvCxnSpPr>
            <a:cxnSpLocks/>
          </p:cNvCxnSpPr>
          <p:nvPr/>
        </p:nvCxnSpPr>
        <p:spPr>
          <a:xfrm>
            <a:off x="5446207" y="3547068"/>
            <a:ext cx="2410848" cy="12050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4851555-E225-37AA-BEE3-802038B75480}"/>
              </a:ext>
            </a:extLst>
          </p:cNvPr>
          <p:cNvCxnSpPr>
            <a:cxnSpLocks/>
          </p:cNvCxnSpPr>
          <p:nvPr/>
        </p:nvCxnSpPr>
        <p:spPr>
          <a:xfrm flipH="1" flipV="1">
            <a:off x="2160396" y="2567709"/>
            <a:ext cx="2009670" cy="6980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7F5AE62-132B-F0BC-7CC3-292824A76799}"/>
              </a:ext>
            </a:extLst>
          </p:cNvPr>
          <p:cNvSpPr txBox="1"/>
          <p:nvPr/>
        </p:nvSpPr>
        <p:spPr>
          <a:xfrm>
            <a:off x="4035532" y="3129061"/>
            <a:ext cx="1457011" cy="646331"/>
          </a:xfrm>
          <a:prstGeom prst="rect">
            <a:avLst/>
          </a:prstGeom>
          <a:noFill/>
        </p:spPr>
        <p:txBody>
          <a:bodyPr wrap="square" rtlCol="0">
            <a:spAutoFit/>
          </a:bodyPr>
          <a:lstStyle/>
          <a:p>
            <a:pPr algn="ctr"/>
            <a:r>
              <a:rPr lang="en-US" dirty="0">
                <a:latin typeface="Segoe UI Historic" panose="020B0502040204020203" pitchFamily="34" charset="0"/>
                <a:ea typeface="Segoe UI Historic" panose="020B0502040204020203" pitchFamily="34" charset="0"/>
                <a:cs typeface="Segoe UI Historic" panose="020B0502040204020203" pitchFamily="34" charset="0"/>
              </a:rPr>
              <a:t>Vertex</a:t>
            </a:r>
          </a:p>
          <a:p>
            <a:pPr algn="ctr"/>
            <a:r>
              <a:rPr lang="en-US" dirty="0">
                <a:latin typeface="Segoe UI Historic" panose="020B0502040204020203" pitchFamily="34" charset="0"/>
                <a:ea typeface="Segoe UI Historic" panose="020B0502040204020203" pitchFamily="34" charset="0"/>
                <a:cs typeface="Segoe UI Historic" panose="020B0502040204020203" pitchFamily="34" charset="0"/>
              </a:rPr>
              <a:t>Allocations</a:t>
            </a:r>
          </a:p>
        </p:txBody>
      </p:sp>
    </p:spTree>
    <p:extLst>
      <p:ext uri="{BB962C8B-B14F-4D97-AF65-F5344CB8AC3E}">
        <p14:creationId xmlns:p14="http://schemas.microsoft.com/office/powerpoint/2010/main" val="185270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up)">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wipe(up)">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wipe(up)">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par>
                          <p:cTn id="35" fill="hold">
                            <p:stCondLst>
                              <p:cond delay="0"/>
                            </p:stCondLst>
                            <p:childTnLst>
                              <p:par>
                                <p:cTn id="36" presetID="22" presetClass="entr" presetSubtype="2" fill="hold"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right)">
                                      <p:cBhvr>
                                        <p:cTn id="38" dur="500"/>
                                        <p:tgtEl>
                                          <p:spTgt spid="17"/>
                                        </p:tgtEl>
                                      </p:cBhvr>
                                    </p:animEffect>
                                  </p:childTnLst>
                                </p:cTn>
                              </p:par>
                              <p:par>
                                <p:cTn id="39" presetID="22" presetClass="entr" presetSubtype="8"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2613-5541-0B61-220A-E78F33096902}"/>
              </a:ext>
            </a:extLst>
          </p:cNvPr>
          <p:cNvSpPr>
            <a:spLocks noGrp="1"/>
          </p:cNvSpPr>
          <p:nvPr>
            <p:ph type="title"/>
          </p:nvPr>
        </p:nvSpPr>
        <p:spPr/>
        <p:txBody>
          <a:bodyPr/>
          <a:lstStyle/>
          <a:p>
            <a:r>
              <a:rPr lang="en-US" dirty="0"/>
              <a:t>Why Vertex Allocations?</a:t>
            </a:r>
          </a:p>
        </p:txBody>
      </p:sp>
      <p:sp>
        <p:nvSpPr>
          <p:cNvPr id="7" name="Content Placeholder 6">
            <a:extLst>
              <a:ext uri="{FF2B5EF4-FFF2-40B4-BE49-F238E27FC236}">
                <a16:creationId xmlns:a16="http://schemas.microsoft.com/office/drawing/2014/main" id="{FB57679C-1D2A-DCFC-D3AA-3A996C81BA80}"/>
              </a:ext>
            </a:extLst>
          </p:cNvPr>
          <p:cNvSpPr>
            <a:spLocks noGrp="1"/>
          </p:cNvSpPr>
          <p:nvPr>
            <p:ph idx="1"/>
          </p:nvPr>
        </p:nvSpPr>
        <p:spPr>
          <a:xfrm>
            <a:off x="609599" y="1774825"/>
            <a:ext cx="6539345" cy="4625975"/>
          </a:xfrm>
        </p:spPr>
        <p:txBody>
          <a:bodyPr/>
          <a:lstStyle/>
          <a:p>
            <a:r>
              <a:rPr lang="en-US" dirty="0"/>
              <a:t>Think of transportation costs. Two markets. Prices are fixed. To which do you deliver? Ideally, deliver everything to the market with lowest transport cost.</a:t>
            </a:r>
          </a:p>
          <a:p>
            <a:r>
              <a:rPr lang="en-US" dirty="0"/>
              <a:t> More generally: the feasibility constraints are shown at right. Convex polytope. Linear program-&gt;Corner solutions.</a:t>
            </a:r>
          </a:p>
          <a:p>
            <a:r>
              <a:rPr lang="en-US" dirty="0"/>
              <a:t>Any outcome from E2 to E1 is feasible but generically the outcomes are E2 and E1 depending on transport costs.</a:t>
            </a:r>
          </a:p>
          <a:p>
            <a:r>
              <a:rPr lang="en-US" dirty="0"/>
              <a:t>“Segment”, “Transport”—very general terms.</a:t>
            </a:r>
          </a:p>
        </p:txBody>
      </p:sp>
      <p:pic>
        <p:nvPicPr>
          <p:cNvPr id="8" name="Content Placeholder 4">
            <a:extLst>
              <a:ext uri="{FF2B5EF4-FFF2-40B4-BE49-F238E27FC236}">
                <a16:creationId xmlns:a16="http://schemas.microsoft.com/office/drawing/2014/main" id="{0FBCD1AF-BA75-FC0F-85C7-D61DCC66F574}"/>
              </a:ext>
            </a:extLst>
          </p:cNvPr>
          <p:cNvPicPr>
            <a:picLocks noChangeAspect="1"/>
          </p:cNvPicPr>
          <p:nvPr/>
        </p:nvPicPr>
        <p:blipFill>
          <a:blip r:embed="rId2"/>
          <a:stretch>
            <a:fillRect/>
          </a:stretch>
        </p:blipFill>
        <p:spPr bwMode="auto">
          <a:xfrm>
            <a:off x="7252046" y="1774824"/>
            <a:ext cx="4615179" cy="4625975"/>
          </a:xfrm>
          <a:prstGeom prst="rect">
            <a:avLst/>
          </a:prstGeom>
          <a:noFill/>
          <a:ln w="9525">
            <a:noFill/>
            <a:miter lim="800000"/>
            <a:headEnd/>
            <a:tailEnd/>
          </a:ln>
        </p:spPr>
      </p:pic>
    </p:spTree>
    <p:extLst>
      <p:ext uri="{BB962C8B-B14F-4D97-AF65-F5344CB8AC3E}">
        <p14:creationId xmlns:p14="http://schemas.microsoft.com/office/powerpoint/2010/main" val="3958220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12FB-6608-442B-808A-FA14FF985F3F}"/>
              </a:ext>
            </a:extLst>
          </p:cNvPr>
          <p:cNvSpPr>
            <a:spLocks noGrp="1"/>
          </p:cNvSpPr>
          <p:nvPr>
            <p:ph type="title"/>
          </p:nvPr>
        </p:nvSpPr>
        <p:spPr/>
        <p:txBody>
          <a:bodyPr/>
          <a:lstStyle/>
          <a:p>
            <a:r>
              <a:rPr lang="en-US" dirty="0"/>
              <a:t>The Rise of Nuisance Parameters</a:t>
            </a:r>
          </a:p>
        </p:txBody>
      </p:sp>
      <p:sp>
        <p:nvSpPr>
          <p:cNvPr id="4" name="Content Placeholder 3">
            <a:extLst>
              <a:ext uri="{FF2B5EF4-FFF2-40B4-BE49-F238E27FC236}">
                <a16:creationId xmlns:a16="http://schemas.microsoft.com/office/drawing/2014/main" id="{2800774A-927B-A7B7-BAD2-BEC78BC48293}"/>
              </a:ext>
            </a:extLst>
          </p:cNvPr>
          <p:cNvSpPr>
            <a:spLocks noGrp="1"/>
          </p:cNvSpPr>
          <p:nvPr>
            <p:ph idx="1"/>
          </p:nvPr>
        </p:nvSpPr>
        <p:spPr>
          <a:xfrm>
            <a:off x="609599" y="1774825"/>
            <a:ext cx="7678724" cy="4625975"/>
          </a:xfrm>
        </p:spPr>
        <p:txBody>
          <a:bodyPr/>
          <a:lstStyle/>
          <a:p>
            <a:r>
              <a:rPr lang="en-US" dirty="0"/>
              <a:t>As Yergin (1991) describes, ''gasoline was in short supply in major urban areas, but there were more than abundant supplies in rural and vacation areas, where the only shortage was of tourists.”</a:t>
            </a:r>
          </a:p>
          <a:p>
            <a:r>
              <a:rPr lang="en-US" dirty="0"/>
              <a:t>In a free market, a slight cost advantage for Pennsylvania over New Jersey matters only at the margin—a few tanker loads of oil—not all of them. </a:t>
            </a:r>
          </a:p>
          <a:p>
            <a:r>
              <a:rPr lang="en-US" dirty="0"/>
              <a:t>The price mechanism permits fine-grained reallocation because arbitrageurs capture profits proportional to the price gap.</a:t>
            </a:r>
          </a:p>
          <a:p>
            <a:r>
              <a:rPr lang="en-US" dirty="0"/>
              <a:t>When prizes are frozen, these incremental profit opportunities disappear.</a:t>
            </a:r>
          </a:p>
          <a:p>
            <a:r>
              <a:rPr lang="en-US" dirty="0"/>
              <a:t>Nuisance parameters become all important.</a:t>
            </a:r>
          </a:p>
          <a:p>
            <a:endParaRPr lang="en-US" dirty="0"/>
          </a:p>
          <a:p>
            <a:endParaRPr lang="en-US" dirty="0"/>
          </a:p>
          <a:p>
            <a:endParaRPr lang="en-US" dirty="0"/>
          </a:p>
        </p:txBody>
      </p:sp>
      <p:pic>
        <p:nvPicPr>
          <p:cNvPr id="1028" name="Picture 4">
            <a:extLst>
              <a:ext uri="{FF2B5EF4-FFF2-40B4-BE49-F238E27FC236}">
                <a16:creationId xmlns:a16="http://schemas.microsoft.com/office/drawing/2014/main" id="{A0823CDD-0C4C-E027-CEAF-299F9B7C7B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9997" y="1774825"/>
            <a:ext cx="2941900" cy="4473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175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F76E1-4078-0A39-3A9C-4BD4B96DDA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70A47B-0A5B-D364-50B7-A410CA6CF1DF}"/>
              </a:ext>
            </a:extLst>
          </p:cNvPr>
          <p:cNvSpPr>
            <a:spLocks noGrp="1"/>
          </p:cNvSpPr>
          <p:nvPr>
            <p:ph idx="1"/>
          </p:nvPr>
        </p:nvSpPr>
        <p:spPr>
          <a:xfrm>
            <a:off x="609600" y="1774825"/>
            <a:ext cx="1940653" cy="4625975"/>
          </a:xfrm>
        </p:spPr>
        <p:txBody>
          <a:bodyPr/>
          <a:lstStyle/>
          <a:p>
            <a:endParaRPr lang="en-US" dirty="0"/>
          </a:p>
        </p:txBody>
      </p:sp>
      <p:sp>
        <p:nvSpPr>
          <p:cNvPr id="5" name="TextBox 4">
            <a:extLst>
              <a:ext uri="{FF2B5EF4-FFF2-40B4-BE49-F238E27FC236}">
                <a16:creationId xmlns:a16="http://schemas.microsoft.com/office/drawing/2014/main" id="{39B33E1D-2FA8-A76E-E2FE-B3F977FEAFE5}"/>
              </a:ext>
            </a:extLst>
          </p:cNvPr>
          <p:cNvSpPr txBox="1"/>
          <p:nvPr/>
        </p:nvSpPr>
        <p:spPr>
          <a:xfrm>
            <a:off x="7365535" y="3502293"/>
            <a:ext cx="3240772" cy="3139321"/>
          </a:xfrm>
          <a:prstGeom prst="rect">
            <a:avLst/>
          </a:prstGeom>
          <a:noFill/>
        </p:spPr>
        <p:txBody>
          <a:bodyPr wrap="square">
            <a:spAutoFit/>
          </a:bodyPr>
          <a:lstStyle/>
          <a:p>
            <a:r>
              <a:rPr lang="en-US" b="0" i="0" dirty="0">
                <a:solidFill>
                  <a:srgbClr val="363636"/>
                </a:solidFill>
                <a:effectLst/>
                <a:latin typeface="nyt-imperial"/>
              </a:rPr>
              <a:t>In Connecticut, state energy officials had expected 150 stations to be open yesterday; barely 50 were. Of New Jersey's 6,000 stations, less than 8 percent pumped gas yesterday, officials said, and in New York City, in Westchester County and on Long Island, less than 5 percent of nearly 5,000 service stations were open.</a:t>
            </a:r>
            <a:endParaRPr lang="en-US" dirty="0"/>
          </a:p>
        </p:txBody>
      </p:sp>
      <p:pic>
        <p:nvPicPr>
          <p:cNvPr id="21" name="Picture 20">
            <a:extLst>
              <a:ext uri="{FF2B5EF4-FFF2-40B4-BE49-F238E27FC236}">
                <a16:creationId xmlns:a16="http://schemas.microsoft.com/office/drawing/2014/main" id="{69893020-21CF-ED1B-8435-2C80B894E53F}"/>
              </a:ext>
            </a:extLst>
          </p:cNvPr>
          <p:cNvPicPr>
            <a:picLocks noChangeAspect="1"/>
          </p:cNvPicPr>
          <p:nvPr/>
        </p:nvPicPr>
        <p:blipFill>
          <a:blip r:embed="rId2"/>
          <a:stretch>
            <a:fillRect/>
          </a:stretch>
        </p:blipFill>
        <p:spPr>
          <a:xfrm>
            <a:off x="7139206" y="1594574"/>
            <a:ext cx="3467100" cy="1914525"/>
          </a:xfrm>
          <a:prstGeom prst="rect">
            <a:avLst/>
          </a:prstGeom>
        </p:spPr>
      </p:pic>
      <p:sp>
        <p:nvSpPr>
          <p:cNvPr id="22" name="TextBox 21">
            <a:extLst>
              <a:ext uri="{FF2B5EF4-FFF2-40B4-BE49-F238E27FC236}">
                <a16:creationId xmlns:a16="http://schemas.microsoft.com/office/drawing/2014/main" id="{0417D5E6-34E6-9E56-A6A4-6C217EEB620F}"/>
              </a:ext>
            </a:extLst>
          </p:cNvPr>
          <p:cNvSpPr txBox="1"/>
          <p:nvPr/>
        </p:nvSpPr>
        <p:spPr>
          <a:xfrm>
            <a:off x="7829550" y="301164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819455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ckYellow">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noFill/>
        <a:ln cmpd="sng">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BlackYellow" id="{89FD6BC1-3F48-43C5-9EDD-488C3313683B}" vid="{FA963B8F-B304-4473-95EF-C1D3D3B458AA}"/>
    </a:ext>
  </a:extLst>
</a:theme>
</file>

<file path=ppt/theme/theme2.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2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How Not to Give a Bad Seminar</Template>
  <TotalTime>1815</TotalTime>
  <Words>786</Words>
  <Application>Microsoft Office PowerPoint</Application>
  <PresentationFormat>Widescreen</PresentationFormat>
  <Paragraphs>69</Paragraphs>
  <Slides>11</Slides>
  <Notes>2</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11</vt:i4>
      </vt:variant>
    </vt:vector>
  </HeadingPairs>
  <TitlesOfParts>
    <vt:vector size="27" baseType="lpstr">
      <vt:lpstr>Aptos</vt:lpstr>
      <vt:lpstr>Arial</vt:lpstr>
      <vt:lpstr>Calibri</vt:lpstr>
      <vt:lpstr>Calibri Light</vt:lpstr>
      <vt:lpstr>Cambria Math</vt:lpstr>
      <vt:lpstr>Corbel</vt:lpstr>
      <vt:lpstr>Garamond</vt:lpstr>
      <vt:lpstr>nyt-imperial</vt:lpstr>
      <vt:lpstr>Segoe UI Historic</vt:lpstr>
      <vt:lpstr>Wingdings</vt:lpstr>
      <vt:lpstr>Wingdings 2</vt:lpstr>
      <vt:lpstr>Wingdings 3</vt:lpstr>
      <vt:lpstr>BlackYellow</vt:lpstr>
      <vt:lpstr>HDOfficeLightV0</vt:lpstr>
      <vt:lpstr>1_HDOfficeLightV0</vt:lpstr>
      <vt:lpstr>2_HDOfficeLightV0</vt:lpstr>
      <vt:lpstr>Price Controls Cause Chaos </vt:lpstr>
      <vt:lpstr>Harberger Triangle</vt:lpstr>
      <vt:lpstr>Random Allocation</vt:lpstr>
      <vt:lpstr>Random Allocation</vt:lpstr>
      <vt:lpstr>Random Allocation</vt:lpstr>
      <vt:lpstr>Segments</vt:lpstr>
      <vt:lpstr>Segments</vt:lpstr>
      <vt:lpstr>What is possible?</vt:lpstr>
      <vt:lpstr>Why Vertex Allocations?</vt:lpstr>
      <vt:lpstr>The Rise of Nuisance Parameters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T Tabarrok</dc:creator>
  <cp:lastModifiedBy>Alex T Tabarrok</cp:lastModifiedBy>
  <cp:revision>9</cp:revision>
  <dcterms:created xsi:type="dcterms:W3CDTF">2026-02-05T20:15:42Z</dcterms:created>
  <dcterms:modified xsi:type="dcterms:W3CDTF">2026-02-08T00:34:41Z</dcterms:modified>
</cp:coreProperties>
</file>